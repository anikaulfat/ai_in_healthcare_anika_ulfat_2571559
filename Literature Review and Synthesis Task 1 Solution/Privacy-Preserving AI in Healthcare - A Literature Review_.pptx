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88" r:id="rId3"/>
    <p:sldId id="342" r:id="rId4"/>
    <p:sldId id="269" r:id="rId5"/>
    <p:sldId id="343" r:id="rId6"/>
    <p:sldId id="326" r:id="rId7"/>
    <p:sldId id="337" r:id="rId8"/>
    <p:sldId id="276" r:id="rId9"/>
    <p:sldId id="346" r:id="rId10"/>
    <p:sldId id="331" r:id="rId11"/>
    <p:sldId id="338" r:id="rId12"/>
    <p:sldId id="332" r:id="rId13"/>
    <p:sldId id="339" r:id="rId14"/>
    <p:sldId id="344" r:id="rId15"/>
    <p:sldId id="345" r:id="rId16"/>
    <p:sldId id="301" r:id="rId17"/>
    <p:sldId id="29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8C28"/>
    <a:srgbClr val="FFF3E6"/>
    <a:srgbClr val="6F4AA8"/>
    <a:srgbClr val="F3EFFA"/>
    <a:srgbClr val="70A84B"/>
    <a:srgbClr val="F1F8EA"/>
    <a:srgbClr val="159A8C"/>
    <a:srgbClr val="EAF8F6"/>
    <a:srgbClr val="0B2E5F"/>
    <a:srgbClr val="F782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5A81BC-E486-A9A5-DF08-1EA1A0D570CB}" v="1957" dt="2026-05-04T13:35:08.875"/>
    <p1510:client id="{945B994A-DEB7-662A-73FC-51860700A518}" v="394" dt="2026-05-04T15:09:30.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1016/j.compbiomed.2023.106848"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B692-BEA7-49AB-B198-3761035451BB}"/>
              </a:ext>
            </a:extLst>
          </p:cNvPr>
          <p:cNvSpPr>
            <a:spLocks noGrp="1"/>
          </p:cNvSpPr>
          <p:nvPr>
            <p:ph type="ctrTitle"/>
          </p:nvPr>
        </p:nvSpPr>
        <p:spPr>
          <a:xfrm>
            <a:off x="2201052" y="1907064"/>
            <a:ext cx="7786708" cy="1110236"/>
          </a:xfrm>
        </p:spPr>
        <p:txBody>
          <a:bodyPr vert="horz" lIns="91440" tIns="45720" rIns="91440" bIns="45720" rtlCol="0" anchor="ctr">
            <a:noAutofit/>
          </a:bodyPr>
          <a:lstStyle/>
          <a:p>
            <a:r>
              <a:rPr lang="en-US" sz="3600" b="1">
                <a:latin typeface="Times New Roman"/>
                <a:ea typeface="+mj-lt"/>
                <a:cs typeface="Times New Roman"/>
              </a:rPr>
              <a:t>Privacy-Preserving AI in Healthcare: A Literature Review</a:t>
            </a:r>
            <a:endParaRPr lang="en-US" sz="3600" b="1">
              <a:latin typeface="Times New Roman"/>
              <a:cs typeface="Times New Roman"/>
            </a:endParaRPr>
          </a:p>
        </p:txBody>
      </p:sp>
      <p:sp>
        <p:nvSpPr>
          <p:cNvPr id="7" name="Subtitle 2">
            <a:extLst>
              <a:ext uri="{FF2B5EF4-FFF2-40B4-BE49-F238E27FC236}">
                <a16:creationId xmlns:a16="http://schemas.microsoft.com/office/drawing/2014/main" id="{BF86491E-E07C-450C-BE1F-C6EA2C80FA44}"/>
              </a:ext>
            </a:extLst>
          </p:cNvPr>
          <p:cNvSpPr txBox="1">
            <a:spLocks/>
          </p:cNvSpPr>
          <p:nvPr/>
        </p:nvSpPr>
        <p:spPr>
          <a:xfrm>
            <a:off x="6502294" y="4323650"/>
            <a:ext cx="4978051" cy="1673855"/>
          </a:xfrm>
          <a:prstGeom prst="rect">
            <a:avLst/>
          </a:prstGeom>
        </p:spPr>
        <p:txBody>
          <a:bodyPr vert="horz" lIns="91440" tIns="45720" rIns="91440" bIns="45720" rtlCol="0" anchor="t">
            <a:noAutofit/>
          </a:bodyPr>
          <a:lstStyle>
            <a:lvl1pPr marL="0" indent="0" algn="ctr" defTabSz="914400" rtl="0" eaLnBrk="1" latinLnBrk="0" hangingPunct="1">
              <a:lnSpc>
                <a:spcPct val="120000"/>
              </a:lnSpc>
              <a:spcBef>
                <a:spcPts val="1000"/>
              </a:spcBef>
              <a:buClr>
                <a:schemeClr val="tx1"/>
              </a:buClr>
              <a:buFont typeface="Arial" panose="020B0604020202020204" pitchFamily="34" charset="0"/>
              <a:buNone/>
              <a:defRPr sz="2200" kern="1200" cap="all" baseline="0">
                <a:solidFill>
                  <a:schemeClr val="bg1">
                    <a:lumMod val="50000"/>
                  </a:schemeClr>
                </a:solidFill>
                <a:effectLst/>
                <a:latin typeface="+mn-lt"/>
                <a:ea typeface="+mn-ea"/>
                <a:cs typeface="+mn-cs"/>
              </a:defRPr>
            </a:lvl1pPr>
            <a:lvl2pPr marL="457200" indent="0" algn="ctr" defTabSz="914400" rtl="0" eaLnBrk="1" latinLnBrk="0" hangingPunct="1">
              <a:lnSpc>
                <a:spcPct val="120000"/>
              </a:lnSpc>
              <a:spcBef>
                <a:spcPts val="500"/>
              </a:spcBef>
              <a:buClr>
                <a:schemeClr val="tx1"/>
              </a:buClr>
              <a:buFont typeface="Arial" panose="020B0604020202020204" pitchFamily="34" charset="0"/>
              <a:buNone/>
              <a:defRPr sz="2000" kern="1200" cap="all" baseline="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tx1"/>
              </a:buClr>
              <a:buFont typeface="Arial" panose="020B0604020202020204" pitchFamily="34" charset="0"/>
              <a:buNone/>
              <a:defRPr sz="1800" kern="1200" cap="all" baseline="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tx1"/>
              </a:buClr>
              <a:buFont typeface="Arial" panose="020B0604020202020204" pitchFamily="34" charset="0"/>
              <a:buNone/>
              <a:defRPr sz="1600" kern="1200" cap="all" baseline="0">
                <a:solidFill>
                  <a:schemeClr val="tx1"/>
                </a:solidFill>
                <a:effectLst/>
                <a:latin typeface="+mn-lt"/>
                <a:ea typeface="+mn-ea"/>
                <a:cs typeface="+mn-cs"/>
              </a:defRPr>
            </a:lvl9pPr>
          </a:lstStyle>
          <a:p>
            <a:pPr algn="l">
              <a:lnSpc>
                <a:spcPct val="100000"/>
              </a:lnSpc>
            </a:pPr>
            <a:r>
              <a:rPr lang="en-US" sz="1600" b="1" u="sng" cap="none">
                <a:solidFill>
                  <a:schemeClr val="tx1"/>
                </a:solidFill>
                <a:latin typeface="Times New Roman" panose="02020603050405020304" pitchFamily="18" charset="0"/>
                <a:cs typeface="Times New Roman" panose="02020603050405020304" pitchFamily="18" charset="0"/>
              </a:rPr>
              <a:t>Presented By:</a:t>
            </a:r>
          </a:p>
          <a:p>
            <a:pPr algn="l">
              <a:lnSpc>
                <a:spcPct val="100000"/>
              </a:lnSpc>
            </a:pPr>
            <a:r>
              <a:rPr lang="en-US" sz="1600" cap="none">
                <a:solidFill>
                  <a:schemeClr val="tx1">
                    <a:lumMod val="85000"/>
                    <a:lumOff val="15000"/>
                  </a:schemeClr>
                </a:solidFill>
                <a:latin typeface="Times New Roman"/>
                <a:cs typeface="Times New Roman"/>
              </a:rPr>
              <a:t>Anika Ulfat</a:t>
            </a:r>
          </a:p>
          <a:p>
            <a:pPr algn="l">
              <a:lnSpc>
                <a:spcPct val="100000"/>
              </a:lnSpc>
            </a:pPr>
            <a:r>
              <a:rPr lang="en-US" sz="1600" cap="none">
                <a:solidFill>
                  <a:schemeClr val="tx1">
                    <a:lumMod val="85000"/>
                    <a:lumOff val="15000"/>
                  </a:schemeClr>
                </a:solidFill>
                <a:latin typeface="Times New Roman"/>
                <a:cs typeface="Arial"/>
              </a:rPr>
              <a:t>Roll: 2571559</a:t>
            </a:r>
          </a:p>
          <a:p>
            <a:pPr algn="l">
              <a:lnSpc>
                <a:spcPct val="100000"/>
              </a:lnSpc>
            </a:pPr>
            <a:r>
              <a:rPr lang="en-US" sz="1600" cap="none">
                <a:solidFill>
                  <a:schemeClr val="tx1">
                    <a:lumMod val="85000"/>
                    <a:lumOff val="15000"/>
                  </a:schemeClr>
                </a:solidFill>
                <a:latin typeface="Times New Roman"/>
                <a:cs typeface="Arial"/>
              </a:rPr>
              <a:t>Institute of Information and Communication Technology (IICT)</a:t>
            </a:r>
            <a:endParaRPr lang="en-US" sz="1600">
              <a:solidFill>
                <a:schemeClr val="tx1">
                  <a:lumMod val="85000"/>
                  <a:lumOff val="15000"/>
                </a:schemeClr>
              </a:solidFill>
              <a:latin typeface="Times New Roman"/>
              <a:cs typeface="Times New Roman"/>
            </a:endParaRPr>
          </a:p>
          <a:p>
            <a:pPr algn="l">
              <a:lnSpc>
                <a:spcPct val="150000"/>
              </a:lnSpc>
            </a:pPr>
            <a:endParaRPr lang="en-US" sz="1600" cap="none">
              <a:solidFill>
                <a:schemeClr val="tx1">
                  <a:lumMod val="85000"/>
                  <a:lumOff val="15000"/>
                </a:schemeClr>
              </a:solidFill>
              <a:latin typeface="Times New Roman" panose="02020603050405020304" pitchFamily="18" charset="0"/>
              <a:cs typeface="Times New Roman" panose="02020603050405020304" pitchFamily="18" charset="0"/>
            </a:endParaRPr>
          </a:p>
          <a:p>
            <a:pPr algn="l">
              <a:lnSpc>
                <a:spcPct val="150000"/>
              </a:lnSpc>
            </a:pPr>
            <a:endParaRPr lang="en-US" sz="1600" cap="none">
              <a:solidFill>
                <a:schemeClr val="tx1"/>
              </a:solidFill>
              <a:latin typeface="Times New Roman" panose="02020603050405020304" pitchFamily="18" charset="0"/>
              <a:cs typeface="Times New Roman" panose="02020603050405020304" pitchFamily="18" charset="0"/>
            </a:endParaRPr>
          </a:p>
        </p:txBody>
      </p:sp>
      <p:pic>
        <p:nvPicPr>
          <p:cNvPr id="3" name="Picture 2" descr="Institute of Information and Communication Technology (IICT)">
            <a:extLst>
              <a:ext uri="{FF2B5EF4-FFF2-40B4-BE49-F238E27FC236}">
                <a16:creationId xmlns:a16="http://schemas.microsoft.com/office/drawing/2014/main" id="{7CD336E6-CB26-0112-8BF7-15332A94F145}"/>
              </a:ext>
            </a:extLst>
          </p:cNvPr>
          <p:cNvPicPr>
            <a:picLocks noChangeAspect="1"/>
          </p:cNvPicPr>
          <p:nvPr/>
        </p:nvPicPr>
        <p:blipFill>
          <a:blip r:embed="rId2"/>
          <a:stretch>
            <a:fillRect/>
          </a:stretch>
        </p:blipFill>
        <p:spPr>
          <a:xfrm>
            <a:off x="1131333" y="305467"/>
            <a:ext cx="1143000" cy="1295400"/>
          </a:xfrm>
          <a:prstGeom prst="rect">
            <a:avLst/>
          </a:prstGeom>
        </p:spPr>
      </p:pic>
      <p:sp>
        <p:nvSpPr>
          <p:cNvPr id="5" name="TextBox 4">
            <a:extLst>
              <a:ext uri="{FF2B5EF4-FFF2-40B4-BE49-F238E27FC236}">
                <a16:creationId xmlns:a16="http://schemas.microsoft.com/office/drawing/2014/main" id="{B4A80B96-A781-4C46-EB98-203B4235C2BB}"/>
              </a:ext>
            </a:extLst>
          </p:cNvPr>
          <p:cNvSpPr txBox="1"/>
          <p:nvPr/>
        </p:nvSpPr>
        <p:spPr>
          <a:xfrm>
            <a:off x="1844368" y="509450"/>
            <a:ext cx="849162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chemeClr val="tx1">
                    <a:lumMod val="85000"/>
                    <a:lumOff val="15000"/>
                  </a:schemeClr>
                </a:solidFill>
                <a:latin typeface="Roboto"/>
                <a:ea typeface="Roboto"/>
                <a:cs typeface="Roboto"/>
              </a:rPr>
              <a:t>Khulna University of Engineering &amp; Technology</a:t>
            </a:r>
            <a:endParaRPr lang="en-US" sz="2800">
              <a:solidFill>
                <a:schemeClr val="tx1">
                  <a:lumMod val="85000"/>
                  <a:lumOff val="15000"/>
                </a:schemeClr>
              </a:solidFill>
              <a:latin typeface="Roboto"/>
              <a:ea typeface="Roboto"/>
              <a:cs typeface="Roboto"/>
            </a:endParaRPr>
          </a:p>
        </p:txBody>
      </p:sp>
    </p:spTree>
    <p:extLst>
      <p:ext uri="{BB962C8B-B14F-4D97-AF65-F5344CB8AC3E}">
        <p14:creationId xmlns:p14="http://schemas.microsoft.com/office/powerpoint/2010/main" val="4002347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8" name="Rectangle 25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with a stethoscope&#10;&#10;AI-generated content may be incorrect.">
            <a:extLst>
              <a:ext uri="{FF2B5EF4-FFF2-40B4-BE49-F238E27FC236}">
                <a16:creationId xmlns:a16="http://schemas.microsoft.com/office/drawing/2014/main" id="{205BDC39-164C-CA59-AF60-408AED7CB065}"/>
              </a:ext>
            </a:extLst>
          </p:cNvPr>
          <p:cNvPicPr>
            <a:picLocks noChangeAspect="1"/>
          </p:cNvPicPr>
          <p:nvPr/>
        </p:nvPicPr>
        <p:blipFill>
          <a:blip r:embed="rId2"/>
          <a:srcRect l="2558" r="2558"/>
          <a:stretch>
            <a:fillRect/>
          </a:stretch>
        </p:blipFill>
        <p:spPr>
          <a:xfrm>
            <a:off x="2213201" y="10"/>
            <a:ext cx="9974442" cy="6857990"/>
          </a:xfrm>
          <a:prstGeom prst="rect">
            <a:avLst/>
          </a:prstGeom>
        </p:spPr>
      </p:pic>
      <p:sp>
        <p:nvSpPr>
          <p:cNvPr id="260" name="Rectangle 25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3822189" cy="1899912"/>
          </a:xfrm>
        </p:spPr>
        <p:txBody>
          <a:bodyPr>
            <a:normAutofit/>
          </a:bodyPr>
          <a:lstStyle/>
          <a:p>
            <a:r>
              <a:rPr lang="en-US" sz="4000" b="1">
                <a:latin typeface="Times New Roman" panose="02020603050405020304" pitchFamily="18" charset="0"/>
                <a:cs typeface="Times New Roman" panose="02020603050405020304" pitchFamily="18" charset="0"/>
              </a:rPr>
              <a:t>Contents</a:t>
            </a:r>
          </a:p>
        </p:txBody>
      </p:sp>
      <p:sp>
        <p:nvSpPr>
          <p:cNvPr id="230" name="Content Placeholder 2"/>
          <p:cNvSpPr>
            <a:spLocks noGrp="1"/>
          </p:cNvSpPr>
          <p:nvPr>
            <p:ph idx="1"/>
          </p:nvPr>
        </p:nvSpPr>
        <p:spPr>
          <a:xfrm>
            <a:off x="828040" y="1885561"/>
            <a:ext cx="7195309" cy="3763082"/>
          </a:xfrm>
        </p:spPr>
        <p:txBody>
          <a:bodyPr vert="horz" lIns="91440" tIns="45720" rIns="91440" bIns="45720" rtlCol="0" anchor="t">
            <a:noAutofit/>
          </a:bodyPr>
          <a:lstStyle/>
          <a:p>
            <a:r>
              <a:rPr lang="en-US" sz="1800">
                <a:latin typeface="Times New Roman"/>
                <a:cs typeface="Times New Roman"/>
              </a:rPr>
              <a:t>Introduction</a:t>
            </a:r>
          </a:p>
          <a:p>
            <a:r>
              <a:rPr lang="en-US" sz="1800">
                <a:latin typeface="Times New Roman"/>
                <a:ea typeface="+mn-lt"/>
                <a:cs typeface="Times New Roman"/>
              </a:rPr>
              <a:t>Problem Statement</a:t>
            </a:r>
          </a:p>
          <a:p>
            <a:r>
              <a:rPr lang="en-US" sz="1800" dirty="0">
                <a:latin typeface="Times New Roman"/>
                <a:ea typeface="+mn-lt"/>
                <a:cs typeface="Times New Roman"/>
              </a:rPr>
              <a:t>AI Applications in </a:t>
            </a:r>
            <a:r>
              <a:rPr lang="en-US" sz="1800">
                <a:latin typeface="Times New Roman"/>
                <a:ea typeface="+mn-lt"/>
                <a:cs typeface="Times New Roman"/>
              </a:rPr>
              <a:t>Healthcare</a:t>
            </a:r>
            <a:endParaRPr lang="en-US" sz="1800">
              <a:latin typeface="Times New Roman"/>
              <a:cs typeface="Times New Roman"/>
            </a:endParaRPr>
          </a:p>
          <a:p>
            <a:r>
              <a:rPr lang="en-US" sz="1800">
                <a:latin typeface="Times New Roman"/>
                <a:ea typeface="+mn-lt"/>
                <a:cs typeface="Times New Roman"/>
              </a:rPr>
              <a:t>Privacy Attacks on Healthcare AI</a:t>
            </a:r>
            <a:endParaRPr lang="en-US" sz="1800">
              <a:latin typeface="Times New Roman"/>
              <a:cs typeface="Times New Roman"/>
            </a:endParaRPr>
          </a:p>
          <a:p>
            <a:r>
              <a:rPr lang="en-US" sz="1800">
                <a:latin typeface="Times New Roman"/>
                <a:ea typeface="+mn-lt"/>
                <a:cs typeface="Times New Roman"/>
              </a:rPr>
              <a:t>Taxonomy of Privacy-Preserving Techniques</a:t>
            </a:r>
            <a:endParaRPr lang="en-US" sz="1800">
              <a:latin typeface="Times New Roman"/>
              <a:cs typeface="Times New Roman"/>
            </a:endParaRPr>
          </a:p>
          <a:p>
            <a:r>
              <a:rPr lang="en-US" sz="1800">
                <a:latin typeface="Times New Roman"/>
                <a:ea typeface="+mn-lt"/>
                <a:cs typeface="Times New Roman"/>
              </a:rPr>
              <a:t>Security and Privacy Methods</a:t>
            </a:r>
            <a:endParaRPr lang="en-US" sz="1800">
              <a:latin typeface="Times New Roman"/>
              <a:cs typeface="Times New Roman"/>
            </a:endParaRPr>
          </a:p>
          <a:p>
            <a:r>
              <a:rPr lang="en-US" sz="1800">
                <a:latin typeface="Times New Roman"/>
                <a:ea typeface="+mn-lt"/>
                <a:cs typeface="Times New Roman"/>
              </a:rPr>
              <a:t>Open Challenges</a:t>
            </a:r>
            <a:endParaRPr lang="en-US" sz="1800">
              <a:latin typeface="Times New Roman"/>
              <a:cs typeface="Times New Roman"/>
            </a:endParaRPr>
          </a:p>
          <a:p>
            <a:r>
              <a:rPr lang="en-US" sz="1800">
                <a:latin typeface="Times New Roman"/>
                <a:ea typeface="+mn-lt"/>
                <a:cs typeface="Times New Roman"/>
              </a:rPr>
              <a:t>Critical Analysis</a:t>
            </a:r>
            <a:endParaRPr lang="en-US" sz="1800">
              <a:latin typeface="Times New Roman"/>
              <a:cs typeface="Times New Roman"/>
            </a:endParaRPr>
          </a:p>
          <a:p>
            <a:r>
              <a:rPr lang="en-US" sz="1800">
                <a:latin typeface="Times New Roman"/>
                <a:ea typeface="+mn-lt"/>
                <a:cs typeface="Times New Roman"/>
              </a:rPr>
              <a:t>Conclusion</a:t>
            </a:r>
            <a:endParaRPr lang="en-US" sz="1800">
              <a:latin typeface="Times New Roman"/>
              <a:cs typeface="Times New Roman"/>
            </a:endParaRPr>
          </a:p>
          <a:p>
            <a:r>
              <a:rPr lang="en-US" sz="1800">
                <a:latin typeface="Times New Roman"/>
                <a:cs typeface="Times New Roman"/>
              </a:rPr>
              <a:t>Reference</a:t>
            </a:r>
            <a:endParaRPr lang="en-US" sz="1800" dirty="0">
              <a:latin typeface="Times New Roman"/>
              <a:cs typeface="Times New Roman"/>
            </a:endParaRPr>
          </a:p>
        </p:txBody>
      </p:sp>
    </p:spTree>
    <p:extLst>
      <p:ext uri="{BB962C8B-B14F-4D97-AF65-F5344CB8AC3E}">
        <p14:creationId xmlns:p14="http://schemas.microsoft.com/office/powerpoint/2010/main" val="3852577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70A181-907E-2666-B65F-E43DF1B0D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5FA5D-0545-B099-B91B-69A756465676}"/>
              </a:ext>
            </a:extLst>
          </p:cNvPr>
          <p:cNvSpPr>
            <a:spLocks noGrp="1"/>
          </p:cNvSpPr>
          <p:nvPr>
            <p:ph type="title"/>
          </p:nvPr>
        </p:nvSpPr>
        <p:spPr>
          <a:xfrm>
            <a:off x="876693" y="458362"/>
            <a:ext cx="10463709" cy="701803"/>
          </a:xfrm>
        </p:spPr>
        <p:txBody>
          <a:bodyPr anchor="b">
            <a:noAutofit/>
          </a:bodyPr>
          <a:lstStyle/>
          <a:p>
            <a:pPr algn="ctr"/>
            <a:r>
              <a:rPr lang="en-US" sz="4000" b="1">
                <a:latin typeface="Times New Roman"/>
                <a:cs typeface="Times New Roman"/>
              </a:rPr>
              <a:t>Introduction</a:t>
            </a:r>
            <a:endParaRPr lang="en-US" sz="4000">
              <a:latin typeface="Times New Roman"/>
              <a:cs typeface="Times New Roman"/>
            </a:endParaRPr>
          </a:p>
        </p:txBody>
      </p:sp>
      <p:sp>
        <p:nvSpPr>
          <p:cNvPr id="3" name="Content Placeholder 2">
            <a:extLst>
              <a:ext uri="{FF2B5EF4-FFF2-40B4-BE49-F238E27FC236}">
                <a16:creationId xmlns:a16="http://schemas.microsoft.com/office/drawing/2014/main" id="{85384BC1-6E7A-3E20-31D9-BC7E7360D29E}"/>
              </a:ext>
            </a:extLst>
          </p:cNvPr>
          <p:cNvSpPr>
            <a:spLocks noGrp="1"/>
          </p:cNvSpPr>
          <p:nvPr>
            <p:ph idx="1"/>
          </p:nvPr>
        </p:nvSpPr>
        <p:spPr>
          <a:xfrm>
            <a:off x="876693" y="1454324"/>
            <a:ext cx="10471006" cy="3267590"/>
          </a:xfrm>
        </p:spPr>
        <p:txBody>
          <a:bodyPr vert="horz" lIns="91440" tIns="45720" rIns="91440" bIns="45720" rtlCol="0" anchor="t">
            <a:noAutofit/>
          </a:bodyPr>
          <a:lstStyle/>
          <a:p>
            <a:pPr algn="just"/>
            <a:r>
              <a:rPr lang="en-US" sz="2400">
                <a:latin typeface="Times New Roman"/>
                <a:ea typeface="+mn-lt"/>
                <a:cs typeface="Times New Roman"/>
              </a:rPr>
              <a:t>AI is becoming more useful in healthcare for diagnosis, medical imaging, telehealth, drug discovery, and patient monitoring.</a:t>
            </a:r>
            <a:endParaRPr lang="en-US" sz="2400" dirty="0">
              <a:latin typeface="Times New Roman"/>
              <a:ea typeface="+mn-lt"/>
              <a:cs typeface="Times New Roman"/>
            </a:endParaRPr>
          </a:p>
          <a:p>
            <a:pPr algn="just"/>
            <a:r>
              <a:rPr lang="en-US" sz="2400" dirty="0">
                <a:latin typeface="Times New Roman"/>
                <a:ea typeface="+mn-lt"/>
                <a:cs typeface="Times New Roman"/>
              </a:rPr>
              <a:t>These AI systems need large amounts of high-quality patient data to learn and make accurate predictions.</a:t>
            </a:r>
            <a:endParaRPr lang="en-US">
              <a:latin typeface="Times New Roman"/>
              <a:ea typeface="+mn-lt"/>
              <a:cs typeface="Times New Roman"/>
            </a:endParaRPr>
          </a:p>
          <a:p>
            <a:pPr algn="just"/>
            <a:r>
              <a:rPr lang="en-US" sz="2400" dirty="0">
                <a:latin typeface="Times New Roman"/>
                <a:ea typeface="+mn-lt"/>
                <a:cs typeface="Times New Roman"/>
              </a:rPr>
              <a:t>However, healthcare data is very sensitive because it can include medical history, identity, genetic data, and personal health records.</a:t>
            </a:r>
            <a:endParaRPr lang="en-US" sz="2400" dirty="0">
              <a:latin typeface="Times New Roman"/>
              <a:cs typeface="Times New Roman"/>
            </a:endParaRPr>
          </a:p>
          <a:p>
            <a:pPr algn="just"/>
            <a:r>
              <a:rPr lang="en-US" sz="2400">
                <a:latin typeface="Times New Roman"/>
                <a:ea typeface="+mn-lt"/>
                <a:cs typeface="Times New Roman"/>
              </a:rPr>
              <a:t>So, the main concern is how to use AI for better healthcare while still protecting patient privacy.</a:t>
            </a:r>
            <a:endParaRPr lang="en-US" sz="2400" dirty="0">
              <a:latin typeface="Times New Roman"/>
              <a:cs typeface="Times New Roman"/>
            </a:endParaRPr>
          </a:p>
          <a:p>
            <a:pPr algn="just"/>
            <a:endParaRPr lang="en-US" sz="2400" dirty="0">
              <a:latin typeface="Times New Roman"/>
              <a:cs typeface="Times New Roman"/>
            </a:endParaRPr>
          </a:p>
        </p:txBody>
      </p:sp>
    </p:spTree>
    <p:extLst>
      <p:ext uri="{BB962C8B-B14F-4D97-AF65-F5344CB8AC3E}">
        <p14:creationId xmlns:p14="http://schemas.microsoft.com/office/powerpoint/2010/main" val="1620588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1425-32D1-49DF-AE86-052325A9DF9B}"/>
              </a:ext>
            </a:extLst>
          </p:cNvPr>
          <p:cNvSpPr>
            <a:spLocks noGrp="1"/>
          </p:cNvSpPr>
          <p:nvPr>
            <p:ph type="title"/>
          </p:nvPr>
        </p:nvSpPr>
        <p:spPr>
          <a:xfrm>
            <a:off x="866667" y="420549"/>
            <a:ext cx="10463709" cy="701803"/>
          </a:xfrm>
        </p:spPr>
        <p:txBody>
          <a:bodyPr anchor="b">
            <a:noAutofit/>
          </a:bodyPr>
          <a:lstStyle/>
          <a:p>
            <a:pPr marL="228600" indent="-228600" algn="ctr">
              <a:spcBef>
                <a:spcPts val="1000"/>
              </a:spcBef>
            </a:pPr>
            <a:r>
              <a:rPr lang="en-US" b="1">
                <a:latin typeface="Times New Roman"/>
                <a:ea typeface="+mj-lt"/>
                <a:cs typeface="Times New Roman"/>
              </a:rPr>
              <a:t>Problem Statement</a:t>
            </a:r>
            <a:endParaRPr lang="en-US" b="1">
              <a:latin typeface="Times New Roman"/>
              <a:cs typeface="Times New Roman"/>
            </a:endParaRPr>
          </a:p>
        </p:txBody>
      </p:sp>
      <p:sp>
        <p:nvSpPr>
          <p:cNvPr id="6" name="TextBox 5">
            <a:extLst>
              <a:ext uri="{FF2B5EF4-FFF2-40B4-BE49-F238E27FC236}">
                <a16:creationId xmlns:a16="http://schemas.microsoft.com/office/drawing/2014/main" id="{4B390C95-3A46-1043-027F-E47AA0FD54D7}"/>
              </a:ext>
            </a:extLst>
          </p:cNvPr>
          <p:cNvSpPr txBox="1"/>
          <p:nvPr/>
        </p:nvSpPr>
        <p:spPr>
          <a:xfrm>
            <a:off x="862642" y="1398198"/>
            <a:ext cx="10466716"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solidFill>
                  <a:srgbClr val="000000"/>
                </a:solidFill>
                <a:latin typeface="Times New Roman"/>
                <a:ea typeface="+mn-lt"/>
                <a:cs typeface="Times New Roman"/>
              </a:rPr>
              <a:t>Main question:</a:t>
            </a:r>
            <a:endParaRPr lang="en-US" b="1">
              <a:latin typeface="Times New Roman"/>
              <a:ea typeface="+mn-lt"/>
              <a:cs typeface="Times New Roman"/>
            </a:endParaRPr>
          </a:p>
          <a:p>
            <a:pPr algn="just"/>
            <a:r>
              <a:rPr lang="en-US" sz="2400">
                <a:latin typeface="Times New Roman"/>
                <a:ea typeface="+mn-lt"/>
                <a:cs typeface="Times New Roman"/>
              </a:rPr>
              <a:t>How can healthcare AI use patient data without exposing patient privacy?</a:t>
            </a:r>
            <a:endParaRPr lang="en-US">
              <a:latin typeface="Times New Roman"/>
              <a:cs typeface="Times New Roman"/>
            </a:endParaRPr>
          </a:p>
          <a:p>
            <a:pPr algn="just"/>
            <a:endParaRPr lang="en-US" sz="1200" dirty="0">
              <a:solidFill>
                <a:srgbClr val="000000"/>
              </a:solidFill>
              <a:latin typeface="Times New Roman"/>
              <a:ea typeface="Times New Roman"/>
              <a:cs typeface="Times New Roman"/>
            </a:endParaRPr>
          </a:p>
          <a:p>
            <a:pPr algn="just"/>
            <a:r>
              <a:rPr lang="en-US" sz="2400" b="1">
                <a:solidFill>
                  <a:srgbClr val="000000"/>
                </a:solidFill>
                <a:latin typeface="Times New Roman"/>
                <a:ea typeface="+mn-lt"/>
                <a:cs typeface="Times New Roman"/>
              </a:rPr>
              <a:t>Key points</a:t>
            </a:r>
            <a:r>
              <a:rPr lang="en-US" sz="2400" b="1" i="0" u="none" strike="noStrike">
                <a:solidFill>
                  <a:srgbClr val="000000"/>
                </a:solidFill>
                <a:latin typeface="Times New Roman"/>
                <a:ea typeface="+mn-lt"/>
                <a:cs typeface="Times New Roman"/>
              </a:rPr>
              <a:t>:</a:t>
            </a:r>
            <a:endParaRPr lang="en-US" b="1">
              <a:latin typeface="Times New Roman"/>
              <a:ea typeface="+mn-lt"/>
              <a:cs typeface="Times New Roman"/>
            </a:endParaRPr>
          </a:p>
          <a:p>
            <a:pPr marL="228600" lvl="1" indent="-228600" algn="just">
              <a:buFont typeface=""/>
              <a:buChar char="•"/>
            </a:pPr>
            <a:r>
              <a:rPr lang="en-US" sz="2400">
                <a:solidFill>
                  <a:srgbClr val="000000"/>
                </a:solidFill>
                <a:latin typeface="Times New Roman"/>
                <a:ea typeface="+mn-lt"/>
                <a:cs typeface="Times New Roman"/>
              </a:rPr>
              <a:t>AI needs high-quality medical data</a:t>
            </a:r>
            <a:endParaRPr lang="en-US" sz="2400" b="0" i="0" u="none" strike="noStrike">
              <a:solidFill>
                <a:srgbClr val="000000"/>
              </a:solidFill>
              <a:latin typeface="Times New Roman"/>
              <a:ea typeface="+mn-lt"/>
              <a:cs typeface="Times New Roman"/>
            </a:endParaRPr>
          </a:p>
          <a:p>
            <a:pPr marL="228600" lvl="1" indent="-228600" algn="just">
              <a:buFont typeface=""/>
              <a:buChar char="•"/>
            </a:pPr>
            <a:r>
              <a:rPr lang="en-US" sz="2400" dirty="0">
                <a:latin typeface="Times New Roman"/>
                <a:ea typeface="+mn-lt"/>
                <a:cs typeface="Times New Roman"/>
              </a:rPr>
              <a:t>Medical data contains private patient information</a:t>
            </a:r>
            <a:endParaRPr lang="en-US" sz="2400">
              <a:latin typeface="Times New Roman"/>
              <a:ea typeface="+mn-lt"/>
              <a:cs typeface="Times New Roman"/>
            </a:endParaRPr>
          </a:p>
          <a:p>
            <a:pPr marL="228600" lvl="1" indent="-228600" algn="just">
              <a:buFont typeface=""/>
              <a:buChar char="•"/>
            </a:pPr>
            <a:r>
              <a:rPr lang="en-US" sz="2400">
                <a:latin typeface="Times New Roman"/>
                <a:ea typeface="+mn-lt"/>
                <a:cs typeface="Times New Roman"/>
              </a:rPr>
              <a:t>Data leakage can harm patients and hospitals</a:t>
            </a:r>
            <a:endParaRPr lang="en-US" sz="2400" dirty="0">
              <a:latin typeface="Times New Roman"/>
              <a:ea typeface="+mn-lt"/>
              <a:cs typeface="Times New Roman"/>
            </a:endParaRPr>
          </a:p>
          <a:p>
            <a:pPr marL="228600" lvl="1" indent="-228600" algn="just">
              <a:buFont typeface=""/>
              <a:buChar char="•"/>
            </a:pPr>
            <a:r>
              <a:rPr lang="en-US" sz="2400">
                <a:latin typeface="Times New Roman"/>
                <a:ea typeface="+mn-lt"/>
                <a:cs typeface="Times New Roman"/>
              </a:rPr>
              <a:t>Privacy rules make data sharing difficult</a:t>
            </a:r>
            <a:endParaRPr lang="en-US" sz="2400" dirty="0">
              <a:latin typeface="Times New Roman"/>
              <a:ea typeface="+mn-lt"/>
              <a:cs typeface="Times New Roman"/>
            </a:endParaRPr>
          </a:p>
          <a:p>
            <a:pPr marL="0" algn="just"/>
            <a:endParaRPr lang="en-US" sz="2400">
              <a:latin typeface="Times New Roman"/>
              <a:ea typeface="+mn-lt"/>
              <a:cs typeface="Times New Roman"/>
            </a:endParaRPr>
          </a:p>
        </p:txBody>
      </p:sp>
    </p:spTree>
    <p:extLst>
      <p:ext uri="{BB962C8B-B14F-4D97-AF65-F5344CB8AC3E}">
        <p14:creationId xmlns:p14="http://schemas.microsoft.com/office/powerpoint/2010/main" val="1856203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D3E529-2DA8-125F-413E-2A9BF92F71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D8C73-79DB-9A44-9BCC-A41C9656328D}"/>
              </a:ext>
            </a:extLst>
          </p:cNvPr>
          <p:cNvSpPr>
            <a:spLocks noGrp="1"/>
          </p:cNvSpPr>
          <p:nvPr>
            <p:ph type="title"/>
          </p:nvPr>
        </p:nvSpPr>
        <p:spPr>
          <a:xfrm>
            <a:off x="897748" y="384454"/>
            <a:ext cx="10393524" cy="701803"/>
          </a:xfrm>
        </p:spPr>
        <p:txBody>
          <a:bodyPr anchor="b">
            <a:noAutofit/>
          </a:bodyPr>
          <a:lstStyle/>
          <a:p>
            <a:pPr algn="ctr"/>
            <a:r>
              <a:rPr lang="en-US" b="1">
                <a:latin typeface="Times New Roman"/>
                <a:ea typeface="+mj-lt"/>
                <a:cs typeface="Times New Roman"/>
              </a:rPr>
              <a:t>Why Privacy Matters in Healthcare AI</a:t>
            </a:r>
            <a:endParaRPr lang="en-US" b="1">
              <a:latin typeface="Times New Roman"/>
              <a:cs typeface="Times New Roman"/>
            </a:endParaRPr>
          </a:p>
        </p:txBody>
      </p:sp>
      <p:sp>
        <p:nvSpPr>
          <p:cNvPr id="3" name="TextBox 2">
            <a:extLst>
              <a:ext uri="{FF2B5EF4-FFF2-40B4-BE49-F238E27FC236}">
                <a16:creationId xmlns:a16="http://schemas.microsoft.com/office/drawing/2014/main" id="{A3E1BA2F-ADD0-10AB-C16E-8DC5A69DE2AD}"/>
              </a:ext>
            </a:extLst>
          </p:cNvPr>
          <p:cNvSpPr txBox="1"/>
          <p:nvPr/>
        </p:nvSpPr>
        <p:spPr>
          <a:xfrm>
            <a:off x="899361" y="1271337"/>
            <a:ext cx="10393278" cy="5201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solidFill>
                  <a:srgbClr val="000000"/>
                </a:solidFill>
                <a:latin typeface="Times New Roman"/>
                <a:ea typeface="+mn-lt"/>
                <a:cs typeface="Times New Roman"/>
              </a:rPr>
              <a:t>Healthcare data may include:</a:t>
            </a:r>
            <a:endParaRPr lang="en-US" sz="2400" b="1">
              <a:latin typeface="Times New Roman"/>
              <a:cs typeface="Times New Roman"/>
            </a:endParaRPr>
          </a:p>
          <a:p>
            <a:pPr marL="228600" indent="-228600" algn="just">
              <a:buFont typeface="Arial"/>
              <a:buChar char="•"/>
            </a:pPr>
            <a:r>
              <a:rPr lang="en-US" sz="2400">
                <a:solidFill>
                  <a:srgbClr val="000000"/>
                </a:solidFill>
                <a:latin typeface="Times New Roman"/>
                <a:ea typeface="+mn-lt"/>
                <a:cs typeface="Times New Roman"/>
              </a:rPr>
              <a:t>Electronic Health Records</a:t>
            </a:r>
            <a:endParaRPr lang="en-US" sz="2400" dirty="0">
              <a:solidFill>
                <a:srgbClr val="000000"/>
              </a:solidFill>
              <a:latin typeface="Times New Roman"/>
              <a:ea typeface="+mn-lt"/>
              <a:cs typeface="Times New Roman"/>
            </a:endParaRPr>
          </a:p>
          <a:p>
            <a:pPr marL="228600" indent="-228600" algn="just">
              <a:buFont typeface="Arial"/>
              <a:buChar char="•"/>
            </a:pPr>
            <a:r>
              <a:rPr lang="en-US" sz="2400">
                <a:solidFill>
                  <a:srgbClr val="000000"/>
                </a:solidFill>
                <a:latin typeface="Times New Roman"/>
                <a:ea typeface="+mn-lt"/>
                <a:cs typeface="Times New Roman"/>
              </a:rPr>
              <a:t>Medical images</a:t>
            </a:r>
            <a:endParaRPr lang="en-US" sz="2400">
              <a:solidFill>
                <a:srgbClr val="000000"/>
              </a:solidFill>
              <a:latin typeface="Times New Roman"/>
              <a:ea typeface="Times New Roman"/>
              <a:cs typeface="Times New Roman"/>
            </a:endParaRPr>
          </a:p>
          <a:p>
            <a:pPr marL="228600" indent="-228600" algn="just">
              <a:buFont typeface="Arial"/>
              <a:buChar char="•"/>
            </a:pPr>
            <a:r>
              <a:rPr lang="en-US" sz="2400">
                <a:solidFill>
                  <a:srgbClr val="000000"/>
                </a:solidFill>
                <a:latin typeface="Times New Roman"/>
                <a:ea typeface="+mn-lt"/>
                <a:cs typeface="Times New Roman"/>
              </a:rPr>
              <a:t>Genomic</a:t>
            </a:r>
            <a:r>
              <a:rPr lang="en-US" sz="2400" dirty="0">
                <a:solidFill>
                  <a:srgbClr val="000000"/>
                </a:solidFill>
                <a:latin typeface="Times New Roman"/>
                <a:ea typeface="+mn-lt"/>
                <a:cs typeface="Times New Roman"/>
              </a:rPr>
              <a:t> data</a:t>
            </a:r>
            <a:endParaRPr lang="en-US" sz="2400">
              <a:solidFill>
                <a:srgbClr val="000000"/>
              </a:solidFill>
              <a:latin typeface="Times New Roman"/>
              <a:ea typeface="Times New Roman"/>
              <a:cs typeface="Times New Roman"/>
            </a:endParaRPr>
          </a:p>
          <a:p>
            <a:pPr marL="228600" indent="-228600" algn="just">
              <a:buFont typeface="Arial"/>
              <a:buChar char="•"/>
            </a:pPr>
            <a:r>
              <a:rPr lang="en-US" sz="2400">
                <a:solidFill>
                  <a:srgbClr val="000000"/>
                </a:solidFill>
                <a:latin typeface="Times New Roman"/>
                <a:ea typeface="+mn-lt"/>
                <a:cs typeface="Times New Roman"/>
              </a:rPr>
              <a:t>Wearable device data</a:t>
            </a:r>
            <a:endParaRPr lang="en-US" sz="2400">
              <a:solidFill>
                <a:srgbClr val="000000"/>
              </a:solidFill>
              <a:latin typeface="Times New Roman"/>
              <a:ea typeface="Times New Roman"/>
              <a:cs typeface="Times New Roman"/>
            </a:endParaRPr>
          </a:p>
          <a:p>
            <a:pPr marL="228600" indent="-228600" algn="just">
              <a:buFont typeface="Arial"/>
              <a:buChar char="•"/>
            </a:pPr>
            <a:r>
              <a:rPr lang="en-US" sz="2400">
                <a:solidFill>
                  <a:srgbClr val="000000"/>
                </a:solidFill>
                <a:latin typeface="Times New Roman"/>
                <a:ea typeface="+mn-lt"/>
                <a:cs typeface="Times New Roman"/>
              </a:rPr>
              <a:t>Biometric data</a:t>
            </a:r>
            <a:endParaRPr lang="en-US" sz="2400">
              <a:solidFill>
                <a:srgbClr val="000000"/>
              </a:solidFill>
              <a:latin typeface="Times New Roman"/>
              <a:ea typeface="Times New Roman"/>
              <a:cs typeface="Times New Roman"/>
            </a:endParaRPr>
          </a:p>
          <a:p>
            <a:pPr marL="228600" indent="-228600" algn="just">
              <a:buFont typeface="Arial"/>
              <a:buChar char="•"/>
            </a:pPr>
            <a:r>
              <a:rPr lang="en-US" sz="2400">
                <a:solidFill>
                  <a:srgbClr val="000000"/>
                </a:solidFill>
                <a:latin typeface="Times New Roman"/>
                <a:ea typeface="+mn-lt"/>
                <a:cs typeface="Times New Roman"/>
              </a:rPr>
              <a:t>Patient identity</a:t>
            </a:r>
            <a:endParaRPr lang="en-US" sz="2400" dirty="0">
              <a:solidFill>
                <a:srgbClr val="000000"/>
              </a:solidFill>
              <a:latin typeface="Times New Roman"/>
              <a:ea typeface="+mn-lt"/>
              <a:cs typeface="Times New Roman"/>
            </a:endParaRPr>
          </a:p>
          <a:p>
            <a:pPr algn="just"/>
            <a:endParaRPr lang="en-US" sz="1200" dirty="0">
              <a:solidFill>
                <a:srgbClr val="000000"/>
              </a:solidFill>
              <a:latin typeface="Aptos"/>
              <a:ea typeface="Times New Roman"/>
              <a:cs typeface="Times New Roman"/>
            </a:endParaRPr>
          </a:p>
          <a:p>
            <a:pPr algn="just"/>
            <a:r>
              <a:rPr lang="en-US" sz="2400" b="1">
                <a:solidFill>
                  <a:srgbClr val="000000"/>
                </a:solidFill>
                <a:latin typeface="Times New Roman"/>
                <a:ea typeface="+mn-lt"/>
                <a:cs typeface="Times New Roman"/>
              </a:rPr>
              <a:t>Privacy leakage can cause</a:t>
            </a:r>
            <a:r>
              <a:rPr lang="en-US" sz="2400" b="1" i="0" u="none" strike="noStrike">
                <a:solidFill>
                  <a:srgbClr val="000000"/>
                </a:solidFill>
                <a:latin typeface="Times New Roman"/>
                <a:ea typeface="+mn-lt"/>
                <a:cs typeface="Times New Roman"/>
              </a:rPr>
              <a:t>:</a:t>
            </a:r>
            <a:endParaRPr lang="en-US" sz="2400" b="1">
              <a:latin typeface="Times New Roman"/>
              <a:ea typeface="+mn-lt"/>
              <a:cs typeface="Times New Roman"/>
            </a:endParaRPr>
          </a:p>
          <a:p>
            <a:pPr marL="228600" lvl="1" indent="-228600" algn="just">
              <a:buFont typeface="Arial"/>
              <a:buChar char="•"/>
            </a:pPr>
            <a:r>
              <a:rPr lang="en-US" sz="2400">
                <a:solidFill>
                  <a:srgbClr val="000000"/>
                </a:solidFill>
                <a:latin typeface="Times New Roman"/>
                <a:ea typeface="+mn-lt"/>
                <a:cs typeface="Times New Roman"/>
              </a:rPr>
              <a:t>Identity theft</a:t>
            </a:r>
          </a:p>
          <a:p>
            <a:pPr marL="228600" lvl="1" indent="-228600" algn="just">
              <a:buFont typeface="Arial"/>
              <a:buChar char="•"/>
            </a:pPr>
            <a:r>
              <a:rPr lang="en-US" sz="2400">
                <a:solidFill>
                  <a:srgbClr val="000000"/>
                </a:solidFill>
                <a:latin typeface="Times New Roman"/>
                <a:ea typeface="+mn-lt"/>
                <a:cs typeface="Times New Roman"/>
              </a:rPr>
              <a:t>Discrimination</a:t>
            </a:r>
          </a:p>
          <a:p>
            <a:pPr marL="228600" lvl="1" indent="-228600" algn="just">
              <a:buFont typeface="Arial"/>
              <a:buChar char="•"/>
            </a:pPr>
            <a:r>
              <a:rPr lang="en-US" sz="2400">
                <a:solidFill>
                  <a:srgbClr val="000000"/>
                </a:solidFill>
                <a:latin typeface="Times New Roman"/>
                <a:ea typeface="+mn-lt"/>
                <a:cs typeface="Times New Roman"/>
              </a:rPr>
              <a:t>Loss of trust</a:t>
            </a:r>
          </a:p>
          <a:p>
            <a:pPr marL="228600" lvl="1" indent="-228600" algn="just">
              <a:buFont typeface="Arial"/>
              <a:buChar char="•"/>
            </a:pPr>
            <a:r>
              <a:rPr lang="en-US" sz="2400">
                <a:solidFill>
                  <a:srgbClr val="000000"/>
                </a:solidFill>
                <a:latin typeface="Times New Roman"/>
                <a:ea typeface="+mn-lt"/>
                <a:cs typeface="Times New Roman"/>
              </a:rPr>
              <a:t>Wrong medical decisions</a:t>
            </a:r>
          </a:p>
          <a:p>
            <a:pPr marL="228600" lvl="1" indent="-228600" algn="just">
              <a:buFont typeface="Arial"/>
              <a:buChar char="•"/>
            </a:pPr>
            <a:r>
              <a:rPr lang="en-US" sz="2400">
                <a:solidFill>
                  <a:srgbClr val="000000"/>
                </a:solidFill>
                <a:latin typeface="Times New Roman"/>
                <a:ea typeface="+mn-lt"/>
                <a:cs typeface="Times New Roman"/>
              </a:rPr>
              <a:t>Legal problems</a:t>
            </a:r>
            <a:endParaRPr lang="en-US" sz="2400" dirty="0">
              <a:solidFill>
                <a:srgbClr val="000000"/>
              </a:solidFill>
              <a:latin typeface="Times New Roman"/>
              <a:ea typeface="+mn-lt"/>
              <a:cs typeface="Times New Roman"/>
            </a:endParaRPr>
          </a:p>
        </p:txBody>
      </p:sp>
    </p:spTree>
    <p:extLst>
      <p:ext uri="{BB962C8B-B14F-4D97-AF65-F5344CB8AC3E}">
        <p14:creationId xmlns:p14="http://schemas.microsoft.com/office/powerpoint/2010/main" val="13401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0D65-6CD6-3C6B-23A7-4CB763078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6D692-C249-707A-92CA-B924CED130B0}"/>
              </a:ext>
            </a:extLst>
          </p:cNvPr>
          <p:cNvSpPr>
            <a:spLocks noGrp="1"/>
          </p:cNvSpPr>
          <p:nvPr>
            <p:ph type="title"/>
          </p:nvPr>
        </p:nvSpPr>
        <p:spPr>
          <a:xfrm>
            <a:off x="696252" y="350389"/>
            <a:ext cx="10796336" cy="698836"/>
          </a:xfrm>
        </p:spPr>
        <p:txBody>
          <a:bodyPr>
            <a:normAutofit/>
          </a:bodyPr>
          <a:lstStyle/>
          <a:p>
            <a:pPr algn="ctr"/>
            <a:r>
              <a:rPr lang="en-US" b="1">
                <a:latin typeface="Times New Roman"/>
                <a:ea typeface="+mj-lt"/>
                <a:cs typeface="Times New Roman"/>
              </a:rPr>
              <a:t>AI Applications in Healthcare</a:t>
            </a:r>
            <a:endParaRPr lang="en-US" b="1">
              <a:latin typeface="Times New Roman"/>
              <a:cs typeface="Times New Roman"/>
            </a:endParaRPr>
          </a:p>
        </p:txBody>
      </p:sp>
      <p:sp>
        <p:nvSpPr>
          <p:cNvPr id="13" name="TextBox 12">
            <a:extLst>
              <a:ext uri="{FF2B5EF4-FFF2-40B4-BE49-F238E27FC236}">
                <a16:creationId xmlns:a16="http://schemas.microsoft.com/office/drawing/2014/main" id="{FFB6EC06-2285-0085-04A5-38519A3668C5}"/>
              </a:ext>
            </a:extLst>
          </p:cNvPr>
          <p:cNvSpPr txBox="1"/>
          <p:nvPr/>
        </p:nvSpPr>
        <p:spPr>
          <a:xfrm>
            <a:off x="891775" y="1234370"/>
            <a:ext cx="10422827" cy="49552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ea typeface="+mn-lt"/>
                <a:cs typeface="Times New Roman"/>
              </a:rPr>
              <a:t>The paper groups AI healthcare applications into</a:t>
            </a:r>
            <a:r>
              <a:rPr lang="en-US" sz="2000" i="0" u="none" strike="noStrike">
                <a:ea typeface="+mn-lt"/>
                <a:cs typeface="+mn-lt"/>
              </a:rPr>
              <a:t>:</a:t>
            </a:r>
            <a:endParaRPr lang="en-US" sz="2000" b="1">
              <a:latin typeface="Times New Roman"/>
              <a:ea typeface="+mn-lt"/>
              <a:cs typeface="Times New Roman"/>
            </a:endParaRPr>
          </a:p>
          <a:p>
            <a:pPr marL="342900" indent="-342900">
              <a:buFont typeface="Arial"/>
              <a:buChar char="•"/>
            </a:pPr>
            <a:r>
              <a:rPr lang="en-US" sz="2000">
                <a:latin typeface="Times New Roman"/>
                <a:ea typeface="+mn-lt"/>
                <a:cs typeface="Times New Roman"/>
              </a:rPr>
              <a:t>Patient-facing:</a:t>
            </a:r>
            <a:endParaRPr lang="en-US" sz="2000">
              <a:latin typeface="Times New Roman"/>
              <a:cs typeface="Times New Roman"/>
            </a:endParaRPr>
          </a:p>
          <a:p>
            <a:pPr marL="800100" lvl="1" indent="-342900">
              <a:buFont typeface="Arial"/>
              <a:buChar char="•"/>
            </a:pPr>
            <a:r>
              <a:rPr lang="en-US" sz="2000">
                <a:solidFill>
                  <a:srgbClr val="000000"/>
                </a:solidFill>
                <a:latin typeface="Times New Roman"/>
                <a:ea typeface="+mn-lt"/>
                <a:cs typeface="Times New Roman"/>
              </a:rPr>
              <a:t>Wearables</a:t>
            </a:r>
          </a:p>
          <a:p>
            <a:pPr marL="800100" lvl="1" indent="-342900">
              <a:buFont typeface="Arial"/>
              <a:buChar char="•"/>
            </a:pPr>
            <a:r>
              <a:rPr lang="en-US" sz="2000">
                <a:solidFill>
                  <a:srgbClr val="000000"/>
                </a:solidFill>
                <a:latin typeface="Times New Roman"/>
                <a:ea typeface="+mn-lt"/>
                <a:cs typeface="Times New Roman"/>
              </a:rPr>
              <a:t>AI chatbots</a:t>
            </a:r>
            <a:endParaRPr lang="en-US" sz="2000">
              <a:solidFill>
                <a:srgbClr val="000000"/>
              </a:solidFill>
              <a:latin typeface="Times New Roman"/>
              <a:ea typeface="+mj-lt"/>
              <a:cs typeface="Times New Roman"/>
            </a:endParaRPr>
          </a:p>
          <a:p>
            <a:pPr marL="800100" lvl="1" indent="-342900">
              <a:buFont typeface="Arial"/>
              <a:buChar char="•"/>
            </a:pPr>
            <a:r>
              <a:rPr lang="en-US" sz="2000">
                <a:solidFill>
                  <a:srgbClr val="000000"/>
                </a:solidFill>
                <a:latin typeface="Times New Roman"/>
                <a:ea typeface="+mn-lt"/>
                <a:cs typeface="Times New Roman"/>
              </a:rPr>
              <a:t>Mental health apps</a:t>
            </a:r>
            <a:endParaRPr lang="en-US" sz="2000">
              <a:latin typeface="Times New Roman"/>
              <a:ea typeface="+mn-lt"/>
              <a:cs typeface="Times New Roman"/>
            </a:endParaRPr>
          </a:p>
          <a:p>
            <a:pPr lvl="1"/>
            <a:endParaRPr lang="en-US" sz="1200" dirty="0">
              <a:latin typeface="Times New Roman"/>
              <a:ea typeface="+mn-lt"/>
              <a:cs typeface="Times New Roman"/>
            </a:endParaRPr>
          </a:p>
          <a:p>
            <a:pPr marL="342900" indent="-342900">
              <a:buFont typeface="Arial"/>
              <a:buChar char="•"/>
            </a:pPr>
            <a:r>
              <a:rPr lang="en-US" sz="2000">
                <a:latin typeface="Times New Roman"/>
                <a:ea typeface="+mn-lt"/>
                <a:cs typeface="Times New Roman"/>
              </a:rPr>
              <a:t>Telehealth</a:t>
            </a:r>
            <a:r>
              <a:rPr lang="en-US" sz="2000">
                <a:latin typeface="Times New Roman"/>
                <a:cs typeface="Times New Roman"/>
              </a:rPr>
              <a:t>:</a:t>
            </a:r>
          </a:p>
          <a:p>
            <a:pPr marL="800100" lvl="1" indent="-342900">
              <a:buFont typeface="Arial"/>
              <a:buChar char="•"/>
            </a:pPr>
            <a:r>
              <a:rPr lang="en-US" sz="2000">
                <a:latin typeface="Times New Roman"/>
                <a:ea typeface="+mn-lt"/>
                <a:cs typeface="Times New Roman"/>
              </a:rPr>
              <a:t>Disease management</a:t>
            </a:r>
          </a:p>
          <a:p>
            <a:pPr marL="800100" lvl="1" indent="-342900">
              <a:buFont typeface="Arial"/>
              <a:buChar char="•"/>
            </a:pPr>
            <a:r>
              <a:rPr lang="en-US" sz="2000">
                <a:latin typeface="Times New Roman"/>
                <a:ea typeface="+mn-lt"/>
                <a:cs typeface="Times New Roman"/>
              </a:rPr>
              <a:t>Telemedicine</a:t>
            </a:r>
          </a:p>
          <a:p>
            <a:pPr lvl="1"/>
            <a:endParaRPr lang="en-US" sz="1200" dirty="0">
              <a:latin typeface="Times New Roman"/>
              <a:ea typeface="+mn-lt"/>
              <a:cs typeface="Times New Roman"/>
            </a:endParaRPr>
          </a:p>
          <a:p>
            <a:pPr marL="342900" indent="-342900">
              <a:buFont typeface="Arial,Sans-Serif"/>
              <a:buChar char="•"/>
            </a:pPr>
            <a:r>
              <a:rPr lang="en-US" sz="2000">
                <a:latin typeface="Times New Roman"/>
                <a:ea typeface="+mn-lt"/>
                <a:cs typeface="Times New Roman"/>
              </a:rPr>
              <a:t>Research:</a:t>
            </a:r>
            <a:endParaRPr lang="en-US" sz="2000" dirty="0">
              <a:latin typeface="Times New Roman"/>
              <a:ea typeface="+mn-lt"/>
              <a:cs typeface="Times New Roman"/>
            </a:endParaRPr>
          </a:p>
          <a:p>
            <a:pPr marL="800100" lvl="1" indent="-342900">
              <a:buFont typeface="Arial,Sans-Serif"/>
              <a:buChar char="•"/>
            </a:pPr>
            <a:r>
              <a:rPr lang="en-US" sz="2000">
                <a:latin typeface="Times New Roman"/>
                <a:ea typeface="+mn-lt"/>
                <a:cs typeface="Times New Roman"/>
              </a:rPr>
              <a:t>Drug discovery</a:t>
            </a:r>
          </a:p>
          <a:p>
            <a:pPr marL="800100" lvl="1" indent="-342900">
              <a:buFont typeface="Arial,Sans-Serif"/>
              <a:buChar char="•"/>
            </a:pPr>
            <a:r>
              <a:rPr lang="en-US" sz="2000">
                <a:latin typeface="Times New Roman"/>
                <a:ea typeface="+mn-lt"/>
                <a:cs typeface="Times New Roman"/>
              </a:rPr>
              <a:t>Clinical trials</a:t>
            </a:r>
          </a:p>
          <a:p>
            <a:pPr lvl="1"/>
            <a:endParaRPr lang="en-US" sz="1200" dirty="0">
              <a:latin typeface="Times New Roman"/>
              <a:ea typeface="+mn-lt"/>
              <a:cs typeface="Times New Roman"/>
            </a:endParaRPr>
          </a:p>
          <a:p>
            <a:pPr marL="342900" indent="-342900">
              <a:buFont typeface="Arial,Sans-Serif"/>
              <a:buChar char="•"/>
            </a:pPr>
            <a:r>
              <a:rPr lang="en-US" sz="2000">
                <a:latin typeface="Times New Roman"/>
                <a:ea typeface="+mn-lt"/>
                <a:cs typeface="Times New Roman"/>
              </a:rPr>
              <a:t>Doctor-facing:</a:t>
            </a:r>
          </a:p>
          <a:p>
            <a:pPr marL="800100" lvl="1" indent="-342900">
              <a:buFont typeface="Arial,Sans-Serif"/>
              <a:buChar char="•"/>
            </a:pPr>
            <a:r>
              <a:rPr lang="en-US" sz="2000">
                <a:latin typeface="Times New Roman"/>
                <a:ea typeface="+mn-lt"/>
                <a:cs typeface="Times New Roman"/>
              </a:rPr>
              <a:t>Medical imaging</a:t>
            </a:r>
          </a:p>
          <a:p>
            <a:pPr marL="800100" lvl="1" indent="-342900">
              <a:buFont typeface="Arial,Sans-Serif"/>
              <a:buChar char="•"/>
            </a:pPr>
            <a:r>
              <a:rPr lang="en-US" sz="2000">
                <a:latin typeface="Times New Roman"/>
                <a:ea typeface="+mn-lt"/>
                <a:cs typeface="Times New Roman"/>
              </a:rPr>
              <a:t>Hospital analytics</a:t>
            </a:r>
            <a:endParaRPr lang="en-US" sz="2000" dirty="0">
              <a:latin typeface="Times New Roman"/>
              <a:cs typeface="Times New Roman"/>
            </a:endParaRPr>
          </a:p>
        </p:txBody>
      </p:sp>
    </p:spTree>
    <p:extLst>
      <p:ext uri="{BB962C8B-B14F-4D97-AF65-F5344CB8AC3E}">
        <p14:creationId xmlns:p14="http://schemas.microsoft.com/office/powerpoint/2010/main" val="3864155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D149-52CD-29A8-3F6D-30E3C57F9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9994B-A082-9C81-91FE-D7B4EDDC023E}"/>
              </a:ext>
            </a:extLst>
          </p:cNvPr>
          <p:cNvSpPr>
            <a:spLocks noGrp="1"/>
          </p:cNvSpPr>
          <p:nvPr>
            <p:ph type="title"/>
          </p:nvPr>
        </p:nvSpPr>
        <p:spPr>
          <a:xfrm>
            <a:off x="606015" y="360415"/>
            <a:ext cx="10986837" cy="698836"/>
          </a:xfrm>
        </p:spPr>
        <p:txBody>
          <a:bodyPr>
            <a:normAutofit/>
          </a:bodyPr>
          <a:lstStyle/>
          <a:p>
            <a:pPr algn="ctr"/>
            <a:r>
              <a:rPr lang="en-US" b="1">
                <a:latin typeface="Times New Roman"/>
                <a:ea typeface="+mj-lt"/>
                <a:cs typeface="Times New Roman"/>
              </a:rPr>
              <a:t>Privacy Attacks on Healthcare AI</a:t>
            </a:r>
            <a:endParaRPr lang="en-US" b="1">
              <a:latin typeface="Times New Roman"/>
              <a:cs typeface="Times New Roman"/>
            </a:endParaRPr>
          </a:p>
        </p:txBody>
      </p:sp>
      <p:sp>
        <p:nvSpPr>
          <p:cNvPr id="13" name="TextBox 12">
            <a:extLst>
              <a:ext uri="{FF2B5EF4-FFF2-40B4-BE49-F238E27FC236}">
                <a16:creationId xmlns:a16="http://schemas.microsoft.com/office/drawing/2014/main" id="{169BBF03-B689-BD46-9406-49CA0EAFCF61}"/>
              </a:ext>
            </a:extLst>
          </p:cNvPr>
          <p:cNvSpPr txBox="1"/>
          <p:nvPr/>
        </p:nvSpPr>
        <p:spPr>
          <a:xfrm>
            <a:off x="901999" y="1354092"/>
            <a:ext cx="1039728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Times New Roman"/>
                <a:ea typeface="+mn-lt"/>
                <a:cs typeface="Times New Roman"/>
              </a:rPr>
              <a:t>The paper divides attacks into two groups:</a:t>
            </a:r>
            <a:endParaRPr lang="en-US" sz="2400" b="1">
              <a:latin typeface="Times New Roman"/>
              <a:cs typeface="Times New Roman"/>
            </a:endParaRPr>
          </a:p>
          <a:p>
            <a:r>
              <a:rPr lang="en-US" sz="2000" b="1">
                <a:solidFill>
                  <a:srgbClr val="000000"/>
                </a:solidFill>
                <a:latin typeface="Times New Roman"/>
                <a:ea typeface="+mn-lt"/>
                <a:cs typeface="Times New Roman"/>
              </a:rPr>
              <a:t>1. Data privacy attacks</a:t>
            </a:r>
            <a:endParaRPr lang="en-US" sz="2000">
              <a:latin typeface="Times New Roman"/>
              <a:cs typeface="Times New Roman"/>
            </a:endParaRPr>
          </a:p>
          <a:p>
            <a:pPr marL="285750" indent="-285750">
              <a:buFont typeface="Arial"/>
              <a:buChar char="•"/>
            </a:pPr>
            <a:r>
              <a:rPr lang="en-US" sz="2000">
                <a:latin typeface="Times New Roman"/>
                <a:ea typeface="+mn-lt"/>
                <a:cs typeface="Times New Roman"/>
              </a:rPr>
              <a:t>Re-identification</a:t>
            </a:r>
            <a:endParaRPr lang="en-US" sz="2000">
              <a:latin typeface="Times New Roman"/>
              <a:cs typeface="Times New Roman"/>
            </a:endParaRPr>
          </a:p>
          <a:p>
            <a:pPr marL="285750" indent="-285750">
              <a:buFont typeface="Arial"/>
              <a:buChar char="•"/>
            </a:pPr>
            <a:r>
              <a:rPr lang="en-US" sz="2000">
                <a:solidFill>
                  <a:srgbClr val="000000"/>
                </a:solidFill>
                <a:latin typeface="Times New Roman"/>
                <a:ea typeface="+mn-lt"/>
                <a:cs typeface="Times New Roman"/>
              </a:rPr>
              <a:t>Reconstruction</a:t>
            </a:r>
            <a:endParaRPr lang="en-US" sz="2000">
              <a:solidFill>
                <a:srgbClr val="000000"/>
              </a:solidFill>
              <a:latin typeface="Times New Roman"/>
              <a:ea typeface="Times New Roman"/>
              <a:cs typeface="Times New Roman"/>
            </a:endParaRPr>
          </a:p>
          <a:p>
            <a:pPr marL="285750" indent="-285750">
              <a:buFont typeface="Arial"/>
              <a:buChar char="•"/>
            </a:pPr>
            <a:r>
              <a:rPr lang="en-US" sz="2000">
                <a:solidFill>
                  <a:srgbClr val="000000"/>
                </a:solidFill>
                <a:latin typeface="Times New Roman"/>
                <a:ea typeface="+mn-lt"/>
                <a:cs typeface="Times New Roman"/>
              </a:rPr>
              <a:t>Property inference</a:t>
            </a:r>
            <a:endParaRPr lang="en-US" sz="2000" dirty="0">
              <a:solidFill>
                <a:srgbClr val="000000"/>
              </a:solidFill>
              <a:latin typeface="Times New Roman"/>
              <a:ea typeface="+mn-lt"/>
              <a:cs typeface="Times New Roman"/>
            </a:endParaRPr>
          </a:p>
          <a:p>
            <a:endParaRPr lang="en-US" sz="1200" b="1" dirty="0">
              <a:latin typeface="Times New Roman"/>
              <a:cs typeface="Times New Roman"/>
            </a:endParaRPr>
          </a:p>
          <a:p>
            <a:r>
              <a:rPr lang="en-US" sz="2000" b="1">
                <a:latin typeface="Times New Roman"/>
                <a:ea typeface="+mn-lt"/>
                <a:cs typeface="Times New Roman"/>
              </a:rPr>
              <a:t>2. Model privacy attacks</a:t>
            </a:r>
            <a:endParaRPr lang="en-US" b="1">
              <a:latin typeface="Times New Roman"/>
              <a:ea typeface="+mn-lt"/>
              <a:cs typeface="Times New Roman"/>
            </a:endParaRPr>
          </a:p>
          <a:p>
            <a:pPr marL="285750" indent="-285750">
              <a:buFont typeface="Arial,Sans-Serif"/>
              <a:buChar char="•"/>
            </a:pPr>
            <a:r>
              <a:rPr lang="en-US" sz="2000">
                <a:latin typeface="Times New Roman"/>
                <a:ea typeface="+mn-lt"/>
                <a:cs typeface="Times New Roman"/>
              </a:rPr>
              <a:t>Model extraction</a:t>
            </a:r>
          </a:p>
          <a:p>
            <a:pPr marL="285750" indent="-285750">
              <a:buFont typeface="Arial,Sans-Serif"/>
              <a:buChar char="•"/>
            </a:pPr>
            <a:r>
              <a:rPr lang="en-US" sz="2000">
                <a:latin typeface="Times New Roman"/>
                <a:ea typeface="+mn-lt"/>
                <a:cs typeface="Times New Roman"/>
              </a:rPr>
              <a:t>Membership inference</a:t>
            </a:r>
          </a:p>
          <a:p>
            <a:pPr marL="285750" indent="-285750">
              <a:buFont typeface="Arial,Sans-Serif"/>
              <a:buChar char="•"/>
            </a:pPr>
            <a:r>
              <a:rPr lang="en-US" sz="2000">
                <a:latin typeface="Times New Roman"/>
                <a:ea typeface="+mn-lt"/>
                <a:cs typeface="Times New Roman"/>
              </a:rPr>
              <a:t>Model inversion</a:t>
            </a:r>
          </a:p>
          <a:p>
            <a:pPr marL="285750" indent="-285750">
              <a:buFont typeface="Arial,Sans-Serif"/>
              <a:buChar char="•"/>
            </a:pPr>
            <a:r>
              <a:rPr lang="en-US" sz="2000">
                <a:latin typeface="Times New Roman"/>
                <a:ea typeface="+mn-lt"/>
                <a:cs typeface="Times New Roman"/>
              </a:rPr>
              <a:t>Adversarial attacks</a:t>
            </a:r>
            <a:endParaRPr lang="en-US" sz="2000" dirty="0">
              <a:latin typeface="Times New Roman"/>
              <a:ea typeface="+mn-lt"/>
              <a:cs typeface="Times New Roman"/>
            </a:endParaRPr>
          </a:p>
        </p:txBody>
      </p:sp>
    </p:spTree>
    <p:extLst>
      <p:ext uri="{BB962C8B-B14F-4D97-AF65-F5344CB8AC3E}">
        <p14:creationId xmlns:p14="http://schemas.microsoft.com/office/powerpoint/2010/main" val="2397259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141CC-201E-AEC4-C0CA-F53067493B8F}"/>
              </a:ext>
            </a:extLst>
          </p:cNvPr>
          <p:cNvSpPr>
            <a:spLocks noGrp="1"/>
          </p:cNvSpPr>
          <p:nvPr>
            <p:ph type="title"/>
          </p:nvPr>
        </p:nvSpPr>
        <p:spPr>
          <a:xfrm>
            <a:off x="838199" y="356370"/>
            <a:ext cx="10424648" cy="744449"/>
          </a:xfrm>
        </p:spPr>
        <p:txBody>
          <a:bodyPr>
            <a:normAutofit/>
          </a:bodyPr>
          <a:lstStyle/>
          <a:p>
            <a:pPr algn="ctr"/>
            <a:r>
              <a:rPr lang="en-US" b="1">
                <a:latin typeface="Times New Roman"/>
                <a:ea typeface="+mj-lt"/>
                <a:cs typeface="Times New Roman"/>
              </a:rPr>
              <a:t>Example of a Privacy Attack</a:t>
            </a:r>
            <a:endParaRPr lang="en-US" b="1">
              <a:latin typeface="Times New Roman"/>
              <a:cs typeface="Times New Roman"/>
            </a:endParaRPr>
          </a:p>
        </p:txBody>
      </p:sp>
      <p:sp>
        <p:nvSpPr>
          <p:cNvPr id="3" name="TextBox 2">
            <a:extLst>
              <a:ext uri="{FF2B5EF4-FFF2-40B4-BE49-F238E27FC236}">
                <a16:creationId xmlns:a16="http://schemas.microsoft.com/office/drawing/2014/main" id="{FE2790DF-70D6-62EF-7E6F-E9930A940671}"/>
              </a:ext>
            </a:extLst>
          </p:cNvPr>
          <p:cNvSpPr txBox="1"/>
          <p:nvPr/>
        </p:nvSpPr>
        <p:spPr>
          <a:xfrm>
            <a:off x="942975" y="1300915"/>
            <a:ext cx="10415838"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Times New Roman"/>
                <a:ea typeface="+mn-lt"/>
                <a:cs typeface="Times New Roman"/>
              </a:rPr>
              <a:t>Membership Inference Attack</a:t>
            </a:r>
            <a:endParaRPr lang="en-US" sz="2400" b="1">
              <a:latin typeface="Times New Roman"/>
              <a:cs typeface="Times New Roman"/>
            </a:endParaRPr>
          </a:p>
          <a:p>
            <a:pPr marL="342900" indent="-342900">
              <a:buFont typeface="Arial"/>
              <a:buChar char="•"/>
            </a:pPr>
            <a:r>
              <a:rPr lang="en-US" sz="2400">
                <a:latin typeface="Times New Roman"/>
                <a:ea typeface="+mn-lt"/>
                <a:cs typeface="Times New Roman"/>
              </a:rPr>
              <a:t>Attacker tries to know:</a:t>
            </a:r>
            <a:endParaRPr lang="en-US" sz="2400" dirty="0">
              <a:latin typeface="Times New Roman"/>
              <a:cs typeface="Times New Roman"/>
            </a:endParaRPr>
          </a:p>
          <a:p>
            <a:pPr marL="800100" lvl="1" indent="-342900">
              <a:buFont typeface="Arial"/>
              <a:buChar char="•"/>
            </a:pPr>
            <a:r>
              <a:rPr lang="en-US" sz="2400">
                <a:latin typeface="Times New Roman"/>
                <a:ea typeface="+mn-lt"/>
                <a:cs typeface="Times New Roman"/>
              </a:rPr>
              <a:t>“Was this patient in the training dataset?”</a:t>
            </a:r>
            <a:endParaRPr lang="en-US" sz="2400" dirty="0">
              <a:latin typeface="Times New Roman"/>
              <a:cs typeface="Times New Roman"/>
            </a:endParaRPr>
          </a:p>
          <a:p>
            <a:pPr lvl="1"/>
            <a:endParaRPr lang="en-US" sz="1200" dirty="0">
              <a:latin typeface="Times New Roman"/>
              <a:cs typeface="Times New Roman"/>
            </a:endParaRPr>
          </a:p>
          <a:p>
            <a:pPr marL="342900" indent="-342900">
              <a:buFont typeface="Arial,Sans-Serif"/>
              <a:buChar char="•"/>
            </a:pPr>
            <a:r>
              <a:rPr lang="en-US" sz="2400">
                <a:latin typeface="Times New Roman"/>
                <a:ea typeface="+mn-lt"/>
                <a:cs typeface="Times New Roman"/>
              </a:rPr>
              <a:t>This can reveal sensitive information</a:t>
            </a:r>
            <a:endParaRPr lang="en-US" sz="2400" dirty="0">
              <a:latin typeface="Times New Roman"/>
              <a:cs typeface="Times New Roman"/>
            </a:endParaRPr>
          </a:p>
          <a:p>
            <a:endParaRPr lang="en-US" sz="1200" dirty="0">
              <a:latin typeface="Times New Roman"/>
              <a:cs typeface="Times New Roman"/>
            </a:endParaRPr>
          </a:p>
          <a:p>
            <a:pPr marL="342900" indent="-342900">
              <a:buFont typeface="Arial,Sans-Serif"/>
              <a:buChar char="•"/>
            </a:pPr>
            <a:r>
              <a:rPr lang="en-US" sz="2400">
                <a:latin typeface="Times New Roman"/>
                <a:ea typeface="+mn-lt"/>
                <a:cs typeface="Times New Roman"/>
              </a:rPr>
              <a:t>Example</a:t>
            </a:r>
            <a:r>
              <a:rPr lang="en-US" sz="2400">
                <a:latin typeface="Times New Roman"/>
                <a:cs typeface="Times New Roman"/>
              </a:rPr>
              <a:t>:</a:t>
            </a:r>
            <a:endParaRPr lang="en-US" sz="2400" dirty="0">
              <a:latin typeface="Times New Roman"/>
              <a:cs typeface="Times New Roman"/>
            </a:endParaRPr>
          </a:p>
          <a:p>
            <a:pPr marL="800100" lvl="1" indent="-342900">
              <a:buFont typeface="Arial,Sans-Serif"/>
              <a:buChar char="•"/>
            </a:pPr>
            <a:r>
              <a:rPr lang="en-US" sz="2400">
                <a:latin typeface="Times New Roman"/>
                <a:ea typeface="+mn-lt"/>
                <a:cs typeface="Times New Roman"/>
              </a:rPr>
              <a:t>If a person was in a cancer dataset</a:t>
            </a:r>
          </a:p>
          <a:p>
            <a:pPr marL="800100" lvl="1" indent="-342900">
              <a:buFont typeface="Arial,Sans-Serif"/>
              <a:buChar char="•"/>
            </a:pPr>
            <a:r>
              <a:rPr lang="en-US" sz="2400">
                <a:latin typeface="Times New Roman"/>
                <a:ea typeface="+mn-lt"/>
                <a:cs typeface="Times New Roman"/>
              </a:rPr>
              <a:t>It may reveal their health condition</a:t>
            </a:r>
            <a:endParaRPr lang="en-US" sz="2400" dirty="0">
              <a:latin typeface="Times New Roman"/>
              <a:ea typeface="+mn-lt"/>
              <a:cs typeface="Times New Roman"/>
            </a:endParaRPr>
          </a:p>
        </p:txBody>
      </p:sp>
    </p:spTree>
    <p:extLst>
      <p:ext uri="{BB962C8B-B14F-4D97-AF65-F5344CB8AC3E}">
        <p14:creationId xmlns:p14="http://schemas.microsoft.com/office/powerpoint/2010/main" val="1097298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5F0AAB-1793-E640-7459-759F07E3B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C06FD-3F19-C8B6-64CB-14B0DADF03EF}"/>
              </a:ext>
            </a:extLst>
          </p:cNvPr>
          <p:cNvSpPr>
            <a:spLocks noGrp="1"/>
          </p:cNvSpPr>
          <p:nvPr>
            <p:ph type="title"/>
          </p:nvPr>
        </p:nvSpPr>
        <p:spPr>
          <a:xfrm>
            <a:off x="838199" y="316265"/>
            <a:ext cx="10424648" cy="784553"/>
          </a:xfrm>
        </p:spPr>
        <p:txBody>
          <a:bodyPr>
            <a:normAutofit fontScale="90000"/>
          </a:bodyPr>
          <a:lstStyle/>
          <a:p>
            <a:pPr algn="ctr"/>
            <a:r>
              <a:rPr lang="en-US" b="1">
                <a:latin typeface="Times New Roman"/>
                <a:ea typeface="+mj-lt"/>
                <a:cs typeface="Times New Roman"/>
              </a:rPr>
              <a:t>Taxonomy of Privacy-Preserving Techniques</a:t>
            </a:r>
            <a:endParaRPr lang="en-US" b="1">
              <a:latin typeface="Times New Roman"/>
              <a:cs typeface="Times New Roman"/>
            </a:endParaRPr>
          </a:p>
        </p:txBody>
      </p:sp>
      <p:sp>
        <p:nvSpPr>
          <p:cNvPr id="4" name="Rectangle: Rounded Corners 3">
            <a:extLst>
              <a:ext uri="{FF2B5EF4-FFF2-40B4-BE49-F238E27FC236}">
                <a16:creationId xmlns:a16="http://schemas.microsoft.com/office/drawing/2014/main" id="{3B5AAA57-1814-5E83-07FC-2D203E782112}"/>
              </a:ext>
            </a:extLst>
          </p:cNvPr>
          <p:cNvSpPr/>
          <p:nvPr/>
        </p:nvSpPr>
        <p:spPr>
          <a:xfrm>
            <a:off x="4075612" y="1309330"/>
            <a:ext cx="4037979" cy="586635"/>
          </a:xfrm>
          <a:prstGeom prst="roundRect">
            <a:avLst/>
          </a:prstGeom>
          <a:solidFill>
            <a:srgbClr val="0B2E5F"/>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2000" b="1">
                <a:latin typeface="Times New Roman"/>
                <a:ea typeface="+mn-lt"/>
                <a:cs typeface="Times New Roman"/>
              </a:rPr>
              <a:t>Privacy-Preserving Techniques</a:t>
            </a:r>
            <a:endParaRPr lang="en-US" sz="2000" b="1">
              <a:latin typeface="Times New Roman"/>
              <a:cs typeface="Times New Roman"/>
            </a:endParaRPr>
          </a:p>
        </p:txBody>
      </p:sp>
      <p:sp>
        <p:nvSpPr>
          <p:cNvPr id="393" name="Rectangle: Rounded Corners 392">
            <a:extLst>
              <a:ext uri="{FF2B5EF4-FFF2-40B4-BE49-F238E27FC236}">
                <a16:creationId xmlns:a16="http://schemas.microsoft.com/office/drawing/2014/main" id="{5BB7B727-A38C-0CC0-BCFD-5D0BB6EA47BE}"/>
              </a:ext>
            </a:extLst>
          </p:cNvPr>
          <p:cNvSpPr/>
          <p:nvPr/>
        </p:nvSpPr>
        <p:spPr>
          <a:xfrm>
            <a:off x="842555" y="2844215"/>
            <a:ext cx="2361580" cy="586635"/>
          </a:xfrm>
          <a:prstGeom prst="roundRect">
            <a:avLst/>
          </a:prstGeom>
          <a:solidFill>
            <a:srgbClr val="159A8C"/>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solidFill>
                  <a:schemeClr val="bg1"/>
                </a:solidFill>
                <a:latin typeface="Times New Roman"/>
                <a:ea typeface="+mn-lt"/>
                <a:cs typeface="Times New Roman"/>
              </a:rPr>
              <a:t>Cryptographic</a:t>
            </a:r>
            <a:endParaRPr lang="en-US">
              <a:solidFill>
                <a:schemeClr val="bg1"/>
              </a:solidFill>
            </a:endParaRPr>
          </a:p>
        </p:txBody>
      </p:sp>
      <p:sp>
        <p:nvSpPr>
          <p:cNvPr id="397" name="Rectangle: Rounded Corners 396">
            <a:extLst>
              <a:ext uri="{FF2B5EF4-FFF2-40B4-BE49-F238E27FC236}">
                <a16:creationId xmlns:a16="http://schemas.microsoft.com/office/drawing/2014/main" id="{116022B2-8FA1-85F9-2EDC-12870B988C2E}"/>
              </a:ext>
            </a:extLst>
          </p:cNvPr>
          <p:cNvSpPr/>
          <p:nvPr/>
        </p:nvSpPr>
        <p:spPr>
          <a:xfrm>
            <a:off x="3520440" y="2844215"/>
            <a:ext cx="2361580" cy="586635"/>
          </a:xfrm>
          <a:prstGeom prst="roundRect">
            <a:avLst/>
          </a:prstGeom>
          <a:solidFill>
            <a:srgbClr val="70A84B"/>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latin typeface="Times New Roman"/>
                <a:ea typeface="+mn-lt"/>
                <a:cs typeface="Times New Roman"/>
              </a:rPr>
              <a:t>Non-Cryptographic</a:t>
            </a:r>
            <a:endParaRPr lang="en-US">
              <a:solidFill>
                <a:srgbClr val="000000"/>
              </a:solidFill>
              <a:latin typeface="Times New Roman"/>
              <a:ea typeface="+mn-lt"/>
              <a:cs typeface="Times New Roman"/>
            </a:endParaRPr>
          </a:p>
        </p:txBody>
      </p:sp>
      <p:sp>
        <p:nvSpPr>
          <p:cNvPr id="398" name="Rectangle: Rounded Corners 397">
            <a:extLst>
              <a:ext uri="{FF2B5EF4-FFF2-40B4-BE49-F238E27FC236}">
                <a16:creationId xmlns:a16="http://schemas.microsoft.com/office/drawing/2014/main" id="{95D1D209-97C6-29D8-9385-29F35D324E4B}"/>
              </a:ext>
            </a:extLst>
          </p:cNvPr>
          <p:cNvSpPr/>
          <p:nvPr/>
        </p:nvSpPr>
        <p:spPr>
          <a:xfrm>
            <a:off x="6198325" y="2844215"/>
            <a:ext cx="2361580" cy="586635"/>
          </a:xfrm>
          <a:prstGeom prst="roundRect">
            <a:avLst/>
          </a:prstGeom>
          <a:solidFill>
            <a:srgbClr val="6F4AA8"/>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latin typeface="Times New Roman"/>
                <a:ea typeface="+mn-lt"/>
                <a:cs typeface="Times New Roman"/>
              </a:rPr>
              <a:t>Hybrid</a:t>
            </a:r>
            <a:endParaRPr lang="en-US"/>
          </a:p>
        </p:txBody>
      </p:sp>
      <p:sp>
        <p:nvSpPr>
          <p:cNvPr id="399" name="Rectangle: Rounded Corners 398">
            <a:extLst>
              <a:ext uri="{FF2B5EF4-FFF2-40B4-BE49-F238E27FC236}">
                <a16:creationId xmlns:a16="http://schemas.microsoft.com/office/drawing/2014/main" id="{178B3F24-1C96-6123-DA0F-532B0FCE0445}"/>
              </a:ext>
            </a:extLst>
          </p:cNvPr>
          <p:cNvSpPr/>
          <p:nvPr/>
        </p:nvSpPr>
        <p:spPr>
          <a:xfrm>
            <a:off x="8908868" y="2844214"/>
            <a:ext cx="2361580" cy="586635"/>
          </a:xfrm>
          <a:prstGeom prst="round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a:latin typeface="Times New Roman"/>
                <a:ea typeface="+mn-lt"/>
                <a:cs typeface="Times New Roman"/>
              </a:rPr>
              <a:t>Decentralized</a:t>
            </a:r>
            <a:endParaRPr lang="en-US"/>
          </a:p>
        </p:txBody>
      </p:sp>
      <p:cxnSp>
        <p:nvCxnSpPr>
          <p:cNvPr id="400" name="Straight Arrow Connector 399">
            <a:extLst>
              <a:ext uri="{FF2B5EF4-FFF2-40B4-BE49-F238E27FC236}">
                <a16:creationId xmlns:a16="http://schemas.microsoft.com/office/drawing/2014/main" id="{5ABA4CD7-2DFF-ABA5-CA23-14947C6F72D5}"/>
              </a:ext>
            </a:extLst>
          </p:cNvPr>
          <p:cNvCxnSpPr/>
          <p:nvPr/>
        </p:nvCxnSpPr>
        <p:spPr>
          <a:xfrm>
            <a:off x="2010233" y="2237704"/>
            <a:ext cx="11974" cy="5877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407" name="Group 406">
            <a:extLst>
              <a:ext uri="{FF2B5EF4-FFF2-40B4-BE49-F238E27FC236}">
                <a16:creationId xmlns:a16="http://schemas.microsoft.com/office/drawing/2014/main" id="{428119ED-741F-E60C-7EE9-738D24CC88D7}"/>
              </a:ext>
            </a:extLst>
          </p:cNvPr>
          <p:cNvGrpSpPr/>
          <p:nvPr/>
        </p:nvGrpSpPr>
        <p:grpSpPr>
          <a:xfrm>
            <a:off x="1996984" y="1855683"/>
            <a:ext cx="8192229" cy="969741"/>
            <a:chOff x="1996984" y="1855683"/>
            <a:chExt cx="8192229" cy="969741"/>
          </a:xfrm>
        </p:grpSpPr>
        <p:cxnSp>
          <p:nvCxnSpPr>
            <p:cNvPr id="390" name="Straight Arrow Connector 389">
              <a:extLst>
                <a:ext uri="{FF2B5EF4-FFF2-40B4-BE49-F238E27FC236}">
                  <a16:creationId xmlns:a16="http://schemas.microsoft.com/office/drawing/2014/main" id="{9990F9FF-139B-13E1-4917-AA190A5FBCF6}"/>
                </a:ext>
              </a:extLst>
            </p:cNvPr>
            <p:cNvCxnSpPr/>
            <p:nvPr/>
          </p:nvCxnSpPr>
          <p:spPr>
            <a:xfrm>
              <a:off x="5986074" y="1855683"/>
              <a:ext cx="11974" cy="359164"/>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1" name="Straight Arrow Connector 390">
              <a:extLst>
                <a:ext uri="{FF2B5EF4-FFF2-40B4-BE49-F238E27FC236}">
                  <a16:creationId xmlns:a16="http://schemas.microsoft.com/office/drawing/2014/main" id="{1997FFBC-4943-5954-C5BA-EE4D6D07C31A}"/>
                </a:ext>
              </a:extLst>
            </p:cNvPr>
            <p:cNvCxnSpPr/>
            <p:nvPr/>
          </p:nvCxnSpPr>
          <p:spPr>
            <a:xfrm flipV="1">
              <a:off x="1996984" y="2197400"/>
              <a:ext cx="8192229" cy="46823"/>
            </a:xfrm>
            <a:prstGeom prst="straightConnector1">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1" name="Straight Arrow Connector 400">
              <a:extLst>
                <a:ext uri="{FF2B5EF4-FFF2-40B4-BE49-F238E27FC236}">
                  <a16:creationId xmlns:a16="http://schemas.microsoft.com/office/drawing/2014/main" id="{5081ED5D-E9B4-3E5D-1AE5-17BEB5A101F8}"/>
                </a:ext>
              </a:extLst>
            </p:cNvPr>
            <p:cNvCxnSpPr>
              <a:cxnSpLocks/>
            </p:cNvCxnSpPr>
            <p:nvPr/>
          </p:nvCxnSpPr>
          <p:spPr>
            <a:xfrm>
              <a:off x="4709889" y="2237703"/>
              <a:ext cx="11974" cy="5877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2" name="Straight Arrow Connector 401">
              <a:extLst>
                <a:ext uri="{FF2B5EF4-FFF2-40B4-BE49-F238E27FC236}">
                  <a16:creationId xmlns:a16="http://schemas.microsoft.com/office/drawing/2014/main" id="{B6516792-D3CC-65F8-3690-ADAB8E3DEAF8}"/>
                </a:ext>
              </a:extLst>
            </p:cNvPr>
            <p:cNvCxnSpPr>
              <a:cxnSpLocks/>
            </p:cNvCxnSpPr>
            <p:nvPr/>
          </p:nvCxnSpPr>
          <p:spPr>
            <a:xfrm>
              <a:off x="7398660" y="2215931"/>
              <a:ext cx="11974" cy="5877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3" name="Straight Arrow Connector 402">
              <a:extLst>
                <a:ext uri="{FF2B5EF4-FFF2-40B4-BE49-F238E27FC236}">
                  <a16:creationId xmlns:a16="http://schemas.microsoft.com/office/drawing/2014/main" id="{D4D68CD7-EB6B-29FA-2C40-D021ECA76030}"/>
                </a:ext>
              </a:extLst>
            </p:cNvPr>
            <p:cNvCxnSpPr>
              <a:cxnSpLocks/>
            </p:cNvCxnSpPr>
            <p:nvPr/>
          </p:nvCxnSpPr>
          <p:spPr>
            <a:xfrm>
              <a:off x="10174517" y="2194160"/>
              <a:ext cx="11974" cy="58772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09" name="Rectangle 408">
            <a:extLst>
              <a:ext uri="{FF2B5EF4-FFF2-40B4-BE49-F238E27FC236}">
                <a16:creationId xmlns:a16="http://schemas.microsoft.com/office/drawing/2014/main" id="{086B06A8-2A8C-A32F-A0A1-21E0F2AF767C}"/>
              </a:ext>
            </a:extLst>
          </p:cNvPr>
          <p:cNvSpPr/>
          <p:nvPr/>
        </p:nvSpPr>
        <p:spPr>
          <a:xfrm>
            <a:off x="843012" y="3510012"/>
            <a:ext cx="2356339" cy="1938338"/>
          </a:xfrm>
          <a:prstGeom prst="rect">
            <a:avLst/>
          </a:prstGeom>
          <a:solidFill>
            <a:srgbClr val="EAF8F6"/>
          </a:solidFill>
          <a:ln>
            <a:solidFill>
              <a:srgbClr val="159A8C"/>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r>
              <a:rPr lang="en-US" sz="1600">
                <a:solidFill>
                  <a:schemeClr val="tx1"/>
                </a:solidFill>
                <a:latin typeface="Times New Roman"/>
                <a:ea typeface="+mn-lt"/>
                <a:cs typeface="Times New Roman"/>
              </a:rPr>
              <a:t>Homomorphic </a:t>
            </a:r>
          </a:p>
          <a:p>
            <a:r>
              <a:rPr lang="en-US" sz="1600">
                <a:solidFill>
                  <a:schemeClr val="tx1"/>
                </a:solidFill>
                <a:latin typeface="Times New Roman"/>
                <a:ea typeface="+mn-lt"/>
                <a:cs typeface="Times New Roman"/>
              </a:rPr>
              <a:t>   Encryption</a:t>
            </a:r>
            <a:endParaRPr lang="en-US" sz="1600">
              <a:solidFill>
                <a:schemeClr val="tx1"/>
              </a:solidFill>
              <a:latin typeface="Times New Roman"/>
              <a:cs typeface="Times New Roman"/>
            </a:endParaRPr>
          </a:p>
          <a:p>
            <a:pPr marL="285750" indent="-285750">
              <a:buFont typeface="Arial"/>
              <a:buChar char="•"/>
            </a:pPr>
            <a:r>
              <a:rPr lang="en-US" sz="1600" dirty="0">
                <a:solidFill>
                  <a:schemeClr val="tx1"/>
                </a:solidFill>
                <a:latin typeface="Times New Roman"/>
                <a:cs typeface="Times New Roman"/>
              </a:rPr>
              <a:t>Secure </a:t>
            </a:r>
            <a:r>
              <a:rPr lang="en-US" sz="1600">
                <a:solidFill>
                  <a:schemeClr val="tx1"/>
                </a:solidFill>
                <a:latin typeface="Times New Roman"/>
                <a:cs typeface="Times New Roman"/>
              </a:rPr>
              <a:t>Multiparty Computati</a:t>
            </a:r>
            <a:r>
              <a:rPr lang="en-US" sz="1600" dirty="0">
                <a:solidFill>
                  <a:schemeClr val="tx1"/>
                </a:solidFill>
                <a:latin typeface="Times New Roman"/>
                <a:cs typeface="Times New Roman"/>
              </a:rPr>
              <a:t>on (SMPC)</a:t>
            </a:r>
            <a:endParaRPr lang="en-US" sz="1600">
              <a:solidFill>
                <a:schemeClr val="tx1"/>
              </a:solidFill>
              <a:latin typeface="Times New Roman"/>
              <a:cs typeface="Times New Roman"/>
            </a:endParaRPr>
          </a:p>
          <a:p>
            <a:pPr marL="285750" indent="-285750">
              <a:buFont typeface="Arial"/>
              <a:buChar char="•"/>
            </a:pPr>
            <a:r>
              <a:rPr lang="en-US" sz="1600">
                <a:solidFill>
                  <a:schemeClr val="tx1"/>
                </a:solidFill>
                <a:latin typeface="Times New Roman"/>
                <a:ea typeface="+mn-lt"/>
                <a:cs typeface="Times New Roman"/>
              </a:rPr>
              <a:t>Garbled Circuits</a:t>
            </a:r>
          </a:p>
          <a:p>
            <a:pPr marL="285750" indent="-285750">
              <a:buFont typeface="Arial"/>
              <a:buChar char="•"/>
            </a:pPr>
            <a:r>
              <a:rPr lang="en-US" sz="1600">
                <a:solidFill>
                  <a:schemeClr val="tx1"/>
                </a:solidFill>
                <a:latin typeface="Times New Roman"/>
                <a:ea typeface="+mn-lt"/>
                <a:cs typeface="Times New Roman"/>
              </a:rPr>
              <a:t>Secret Sharing</a:t>
            </a:r>
            <a:endParaRPr lang="en-US" sz="1600" dirty="0">
              <a:solidFill>
                <a:schemeClr val="tx1"/>
              </a:solidFill>
              <a:latin typeface="Times New Roman"/>
              <a:cs typeface="Times New Roman"/>
            </a:endParaRPr>
          </a:p>
        </p:txBody>
      </p:sp>
      <p:sp>
        <p:nvSpPr>
          <p:cNvPr id="410" name="Rectangle 409">
            <a:extLst>
              <a:ext uri="{FF2B5EF4-FFF2-40B4-BE49-F238E27FC236}">
                <a16:creationId xmlns:a16="http://schemas.microsoft.com/office/drawing/2014/main" id="{59F0FC7F-6959-8ADD-9647-4DEA763B0ED7}"/>
              </a:ext>
            </a:extLst>
          </p:cNvPr>
          <p:cNvSpPr/>
          <p:nvPr/>
        </p:nvSpPr>
        <p:spPr>
          <a:xfrm>
            <a:off x="3520897" y="3510012"/>
            <a:ext cx="2356339" cy="1938338"/>
          </a:xfrm>
          <a:prstGeom prst="rect">
            <a:avLst/>
          </a:prstGeom>
          <a:solidFill>
            <a:srgbClr val="F1F8EA"/>
          </a:solidFill>
          <a:ln>
            <a:solidFill>
              <a:srgbClr val="70A84B"/>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r>
              <a:rPr lang="en-US" sz="1600">
                <a:solidFill>
                  <a:schemeClr val="tx1"/>
                </a:solidFill>
                <a:latin typeface="Times New Roman"/>
                <a:ea typeface="+mn-lt"/>
                <a:cs typeface="Times New Roman"/>
              </a:rPr>
              <a:t>Differential Privacy</a:t>
            </a:r>
          </a:p>
        </p:txBody>
      </p:sp>
      <p:sp>
        <p:nvSpPr>
          <p:cNvPr id="412" name="Rectangle 411">
            <a:extLst>
              <a:ext uri="{FF2B5EF4-FFF2-40B4-BE49-F238E27FC236}">
                <a16:creationId xmlns:a16="http://schemas.microsoft.com/office/drawing/2014/main" id="{0E4E3579-5058-E597-391D-2DA5F6A35045}"/>
              </a:ext>
            </a:extLst>
          </p:cNvPr>
          <p:cNvSpPr/>
          <p:nvPr/>
        </p:nvSpPr>
        <p:spPr>
          <a:xfrm>
            <a:off x="6198782" y="3510011"/>
            <a:ext cx="2356339" cy="1938338"/>
          </a:xfrm>
          <a:prstGeom prst="rect">
            <a:avLst/>
          </a:prstGeom>
          <a:solidFill>
            <a:srgbClr val="F3EFFA"/>
          </a:solidFill>
          <a:ln>
            <a:solidFill>
              <a:srgbClr val="6F4AA8"/>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Sans-Serif"/>
              <a:buChar char="•"/>
            </a:pPr>
            <a:r>
              <a:rPr lang="en-US" sz="1400" dirty="0">
                <a:solidFill>
                  <a:schemeClr val="tx1"/>
                </a:solidFill>
                <a:latin typeface="Times New Roman"/>
                <a:ea typeface="+mn-lt"/>
                <a:cs typeface="Times New Roman"/>
              </a:rPr>
              <a:t>Federated Learning </a:t>
            </a:r>
            <a:r>
              <a:rPr lang="en-US" sz="1400">
                <a:solidFill>
                  <a:schemeClr val="tx1"/>
                </a:solidFill>
                <a:latin typeface="Times New Roman"/>
                <a:ea typeface="+mn-lt"/>
                <a:cs typeface="Times New Roman"/>
              </a:rPr>
              <a:t>with Differential</a:t>
            </a:r>
            <a:r>
              <a:rPr lang="en-US" sz="1400" dirty="0">
                <a:solidFill>
                  <a:schemeClr val="tx1"/>
                </a:solidFill>
                <a:latin typeface="Times New Roman"/>
                <a:ea typeface="+mn-lt"/>
                <a:cs typeface="Times New Roman"/>
              </a:rPr>
              <a:t> Privacy</a:t>
            </a:r>
          </a:p>
          <a:p>
            <a:pPr marL="285750" indent="-285750">
              <a:buFont typeface="Arial,Sans-Serif"/>
              <a:buChar char="•"/>
            </a:pPr>
            <a:r>
              <a:rPr lang="en-US" sz="1400" dirty="0">
                <a:solidFill>
                  <a:schemeClr val="tx1"/>
                </a:solidFill>
                <a:latin typeface="Times New Roman"/>
                <a:ea typeface="+mn-lt"/>
                <a:cs typeface="Times New Roman"/>
              </a:rPr>
              <a:t>Federated Learning </a:t>
            </a:r>
            <a:r>
              <a:rPr lang="en-US" sz="1400">
                <a:solidFill>
                  <a:schemeClr val="tx1"/>
                </a:solidFill>
                <a:latin typeface="Times New Roman"/>
                <a:ea typeface="+mn-lt"/>
                <a:cs typeface="Times New Roman"/>
              </a:rPr>
              <a:t>with Homomorp</a:t>
            </a:r>
            <a:r>
              <a:rPr lang="en-US" sz="1400" dirty="0">
                <a:solidFill>
                  <a:schemeClr val="tx1"/>
                </a:solidFill>
                <a:latin typeface="Times New Roman"/>
                <a:ea typeface="+mn-lt"/>
                <a:cs typeface="Times New Roman"/>
              </a:rPr>
              <a:t>hic Encryption</a:t>
            </a:r>
          </a:p>
          <a:p>
            <a:pPr marL="285750" indent="-285750">
              <a:buFont typeface="Arial,Sans-Serif"/>
              <a:buChar char="•"/>
            </a:pPr>
            <a:r>
              <a:rPr lang="en-US" sz="1400" dirty="0">
                <a:solidFill>
                  <a:schemeClr val="tx1"/>
                </a:solidFill>
                <a:latin typeface="Times New Roman"/>
                <a:ea typeface="+mn-lt"/>
                <a:cs typeface="Times New Roman"/>
              </a:rPr>
              <a:t>Federated Learning </a:t>
            </a:r>
            <a:r>
              <a:rPr lang="en-US" sz="1400">
                <a:solidFill>
                  <a:schemeClr val="tx1"/>
                </a:solidFill>
                <a:latin typeface="Times New Roman"/>
                <a:ea typeface="+mn-lt"/>
                <a:cs typeface="Times New Roman"/>
              </a:rPr>
              <a:t>with SMPC</a:t>
            </a:r>
            <a:endParaRPr lang="en-US" sz="1400" dirty="0">
              <a:solidFill>
                <a:schemeClr val="tx1"/>
              </a:solidFill>
              <a:latin typeface="Times New Roman"/>
              <a:ea typeface="+mn-lt"/>
              <a:cs typeface="Times New Roman"/>
            </a:endParaRPr>
          </a:p>
          <a:p>
            <a:pPr marL="285750" indent="-285750">
              <a:buFont typeface="Arial,Sans-Serif"/>
              <a:buChar char="•"/>
            </a:pPr>
            <a:r>
              <a:rPr lang="en-US" sz="1400" dirty="0">
                <a:solidFill>
                  <a:schemeClr val="tx1"/>
                </a:solidFill>
                <a:latin typeface="Times New Roman"/>
                <a:ea typeface="+mn-lt"/>
                <a:cs typeface="Times New Roman"/>
              </a:rPr>
              <a:t>Federated Learning </a:t>
            </a:r>
            <a:r>
              <a:rPr lang="en-US" sz="1400">
                <a:solidFill>
                  <a:schemeClr val="tx1"/>
                </a:solidFill>
                <a:latin typeface="Times New Roman"/>
                <a:ea typeface="+mn-lt"/>
                <a:cs typeface="Times New Roman"/>
              </a:rPr>
              <a:t>with Blockchain</a:t>
            </a:r>
            <a:endParaRPr lang="en-US"/>
          </a:p>
        </p:txBody>
      </p:sp>
      <p:sp>
        <p:nvSpPr>
          <p:cNvPr id="413" name="Rectangle 412">
            <a:extLst>
              <a:ext uri="{FF2B5EF4-FFF2-40B4-BE49-F238E27FC236}">
                <a16:creationId xmlns:a16="http://schemas.microsoft.com/office/drawing/2014/main" id="{7CD3FDCB-770B-87BD-3F45-DDEB36033BA8}"/>
              </a:ext>
            </a:extLst>
          </p:cNvPr>
          <p:cNvSpPr/>
          <p:nvPr/>
        </p:nvSpPr>
        <p:spPr>
          <a:xfrm>
            <a:off x="8909325" y="3510011"/>
            <a:ext cx="2356339" cy="1938338"/>
          </a:xfrm>
          <a:prstGeom prst="rect">
            <a:avLst/>
          </a:prstGeom>
          <a:solidFill>
            <a:srgbClr val="FFF3E6"/>
          </a:solidFill>
          <a:ln>
            <a:solidFill>
              <a:srgbClr val="F28C28"/>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85750" indent="-285750">
              <a:buFont typeface="Arial"/>
              <a:buChar char="•"/>
            </a:pPr>
            <a:r>
              <a:rPr lang="en-US" sz="1600">
                <a:solidFill>
                  <a:schemeClr val="tx1"/>
                </a:solidFill>
                <a:latin typeface="Times New Roman"/>
                <a:ea typeface="+mn-lt"/>
                <a:cs typeface="Times New Roman"/>
              </a:rPr>
              <a:t>Blockchain</a:t>
            </a:r>
            <a:endParaRPr lang="en-US">
              <a:solidFill>
                <a:schemeClr val="tx1"/>
              </a:solidFill>
              <a:latin typeface="Times New Roman"/>
              <a:cs typeface="Times New Roman"/>
            </a:endParaRPr>
          </a:p>
        </p:txBody>
      </p:sp>
    </p:spTree>
    <p:extLst>
      <p:ext uri="{BB962C8B-B14F-4D97-AF65-F5344CB8AC3E}">
        <p14:creationId xmlns:p14="http://schemas.microsoft.com/office/powerpoint/2010/main" val="274361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04C3EA-C230-2DF7-7FE2-0B00A425C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952B9-8A2F-5A49-EDD4-35EE2845EC0C}"/>
              </a:ext>
            </a:extLst>
          </p:cNvPr>
          <p:cNvSpPr>
            <a:spLocks noGrp="1"/>
          </p:cNvSpPr>
          <p:nvPr>
            <p:ph type="title"/>
          </p:nvPr>
        </p:nvSpPr>
        <p:spPr>
          <a:xfrm>
            <a:off x="838199" y="316265"/>
            <a:ext cx="10424648" cy="744449"/>
          </a:xfrm>
        </p:spPr>
        <p:txBody>
          <a:bodyPr>
            <a:normAutofit/>
          </a:bodyPr>
          <a:lstStyle/>
          <a:p>
            <a:pPr algn="ctr"/>
            <a:r>
              <a:rPr lang="en-US" b="1">
                <a:latin typeface="Times New Roman"/>
                <a:ea typeface="+mj-lt"/>
                <a:cs typeface="Times New Roman"/>
              </a:rPr>
              <a:t>Cryptographic Techniques</a:t>
            </a:r>
            <a:endParaRPr lang="en-US" b="1">
              <a:latin typeface="Times New Roman"/>
              <a:cs typeface="Times New Roman"/>
            </a:endParaRPr>
          </a:p>
        </p:txBody>
      </p:sp>
      <p:sp>
        <p:nvSpPr>
          <p:cNvPr id="4" name="TextBox 3">
            <a:extLst>
              <a:ext uri="{FF2B5EF4-FFF2-40B4-BE49-F238E27FC236}">
                <a16:creationId xmlns:a16="http://schemas.microsoft.com/office/drawing/2014/main" id="{122A93E5-8EE7-6EF5-046C-5F721F8FDC75}"/>
              </a:ext>
            </a:extLst>
          </p:cNvPr>
          <p:cNvSpPr txBox="1"/>
          <p:nvPr/>
        </p:nvSpPr>
        <p:spPr>
          <a:xfrm>
            <a:off x="1085850" y="1223712"/>
            <a:ext cx="10015788" cy="372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ea typeface="+mn-lt"/>
                <a:cs typeface="Times New Roman"/>
              </a:rPr>
              <a:t>Main idea</a:t>
            </a:r>
            <a:r>
              <a:rPr lang="en-US" sz="2000" u="none" strike="noStrike">
                <a:ea typeface="+mn-lt"/>
                <a:cs typeface="+mn-lt"/>
              </a:rPr>
              <a:t>:</a:t>
            </a:r>
            <a:br>
              <a:rPr lang="en-US" sz="2000" b="1" u="none" strike="noStrike" dirty="0">
                <a:latin typeface="Times New Roman"/>
                <a:ea typeface="Times New Roman"/>
                <a:cs typeface="Times New Roman"/>
              </a:rPr>
            </a:br>
            <a:r>
              <a:rPr lang="en-US" sz="2000">
                <a:latin typeface="Times New Roman"/>
                <a:ea typeface="+mn-lt"/>
                <a:cs typeface="Times New Roman"/>
              </a:rPr>
              <a:t>Protect data during computation.</a:t>
            </a:r>
            <a:endParaRPr lang="en-US">
              <a:latin typeface="Times New Roman"/>
              <a:cs typeface="Times New Roman"/>
            </a:endParaRPr>
          </a:p>
          <a:p>
            <a:endParaRPr lang="en-US" sz="1200" dirty="0">
              <a:solidFill>
                <a:srgbClr val="000000"/>
              </a:solidFill>
              <a:latin typeface="Times New Roman"/>
              <a:ea typeface="+mn-lt"/>
              <a:cs typeface="Times New Roman"/>
            </a:endParaRPr>
          </a:p>
          <a:p>
            <a:r>
              <a:rPr lang="en-US" sz="2000">
                <a:latin typeface="Times New Roman"/>
                <a:ea typeface="+mn-lt"/>
                <a:cs typeface="Times New Roman"/>
              </a:rPr>
              <a:t>Examples:</a:t>
            </a:r>
            <a:endParaRPr lang="en-US" sz="2000">
              <a:latin typeface="Times New Roman"/>
              <a:cs typeface="Times New Roman"/>
            </a:endParaRPr>
          </a:p>
          <a:p>
            <a:pPr marL="342900" indent="-342900">
              <a:buFont typeface="Arial"/>
              <a:buChar char="•"/>
            </a:pPr>
            <a:r>
              <a:rPr lang="en-US" sz="2000" b="1">
                <a:solidFill>
                  <a:srgbClr val="000000"/>
                </a:solidFill>
                <a:latin typeface="Times New Roman"/>
                <a:ea typeface="+mn-lt"/>
                <a:cs typeface="Times New Roman"/>
              </a:rPr>
              <a:t>Homomorphic Encryption</a:t>
            </a:r>
            <a:endParaRPr lang="en-US" sz="2000" b="1" u="none" strike="noStrike">
              <a:solidFill>
                <a:srgbClr val="000000"/>
              </a:solidFill>
              <a:latin typeface="Times New Roman"/>
              <a:ea typeface="Times New Roman"/>
              <a:cs typeface="Times New Roman"/>
            </a:endParaRPr>
          </a:p>
          <a:p>
            <a:pPr marL="800100" lvl="1" indent="-342900">
              <a:buFont typeface="Arial"/>
              <a:buChar char="•"/>
            </a:pPr>
            <a:r>
              <a:rPr lang="en-US" sz="2000">
                <a:latin typeface="Times New Roman"/>
                <a:ea typeface="+mn-lt"/>
                <a:cs typeface="Times New Roman"/>
              </a:rPr>
              <a:t>Compute on encrypted data</a:t>
            </a:r>
            <a:endParaRPr lang="en-US" sz="2000" dirty="0">
              <a:latin typeface="Times New Roman"/>
              <a:cs typeface="Times New Roman"/>
            </a:endParaRPr>
          </a:p>
          <a:p>
            <a:endParaRPr lang="en-US" sz="1200" dirty="0">
              <a:latin typeface="Times New Roman"/>
              <a:ea typeface="+mn-lt"/>
              <a:cs typeface="Times New Roman"/>
            </a:endParaRPr>
          </a:p>
          <a:p>
            <a:pPr marL="342900" indent="-342900">
              <a:buFont typeface="Arial,Sans-Serif"/>
              <a:buChar char="•"/>
            </a:pPr>
            <a:r>
              <a:rPr lang="en-US" sz="2000" b="1">
                <a:latin typeface="Times New Roman"/>
                <a:ea typeface="+mn-lt"/>
                <a:cs typeface="Times New Roman"/>
              </a:rPr>
              <a:t>Secure Multiparty Computation</a:t>
            </a:r>
          </a:p>
          <a:p>
            <a:pPr marL="800100" lvl="1" indent="-342900">
              <a:buFont typeface="Arial,Sans-Serif"/>
              <a:buChar char="•"/>
            </a:pPr>
            <a:r>
              <a:rPr lang="en-US" sz="2000">
                <a:latin typeface="Times New Roman"/>
                <a:ea typeface="+mn-lt"/>
                <a:cs typeface="Times New Roman"/>
              </a:rPr>
              <a:t>Different parties compute together</a:t>
            </a:r>
            <a:endParaRPr lang="en-US" sz="2000">
              <a:latin typeface="Times New Roman"/>
              <a:cs typeface="Times New Roman"/>
            </a:endParaRPr>
          </a:p>
          <a:p>
            <a:pPr marL="800100" lvl="1" indent="-342900">
              <a:buFont typeface="Arial,Sans-Serif"/>
              <a:buChar char="•"/>
            </a:pPr>
            <a:r>
              <a:rPr lang="en-US" sz="2000">
                <a:latin typeface="Times New Roman"/>
                <a:ea typeface="+mn-lt"/>
                <a:cs typeface="Times New Roman"/>
              </a:rPr>
              <a:t>Without sharing raw data</a:t>
            </a:r>
            <a:endParaRPr lang="en-US" sz="2000" dirty="0">
              <a:latin typeface="Times New Roman"/>
              <a:ea typeface="+mn-lt"/>
              <a:cs typeface="Times New Roman"/>
            </a:endParaRPr>
          </a:p>
          <a:p>
            <a:endParaRPr lang="en-US" sz="1200" dirty="0">
              <a:latin typeface="Times New Roman"/>
              <a:ea typeface="+mn-lt"/>
              <a:cs typeface="Times New Roman"/>
            </a:endParaRPr>
          </a:p>
          <a:p>
            <a:pPr marL="342900" indent="-342900">
              <a:buFont typeface="Arial,Sans-Serif"/>
              <a:buChar char="•"/>
            </a:pPr>
            <a:r>
              <a:rPr lang="en-US" sz="2000" b="1">
                <a:latin typeface="Times New Roman"/>
                <a:ea typeface="+mn-lt"/>
                <a:cs typeface="Times New Roman"/>
              </a:rPr>
              <a:t>Secret Sharing</a:t>
            </a:r>
            <a:endParaRPr lang="en-US" sz="2000" b="1" dirty="0">
              <a:latin typeface="Times New Roman"/>
              <a:ea typeface="+mn-lt"/>
              <a:cs typeface="Times New Roman"/>
            </a:endParaRPr>
          </a:p>
          <a:p>
            <a:pPr marL="800100" lvl="1" indent="-342900">
              <a:buFont typeface="Arial,Sans-Serif"/>
              <a:buChar char="•"/>
            </a:pPr>
            <a:r>
              <a:rPr lang="en-US" sz="2000">
                <a:latin typeface="Times New Roman"/>
                <a:ea typeface="+mn-lt"/>
                <a:cs typeface="Times New Roman"/>
              </a:rPr>
              <a:t>Data is split into parts</a:t>
            </a:r>
            <a:endParaRPr lang="en-US">
              <a:latin typeface="Times New Roman"/>
              <a:cs typeface="Times New Roman"/>
            </a:endParaRPr>
          </a:p>
        </p:txBody>
      </p:sp>
    </p:spTree>
    <p:extLst>
      <p:ext uri="{BB962C8B-B14F-4D97-AF65-F5344CB8AC3E}">
        <p14:creationId xmlns:p14="http://schemas.microsoft.com/office/powerpoint/2010/main" val="3699145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09DEE3-08D0-79BF-BCAD-59AF63681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3DB9-7A0F-C1D7-1844-8634657A272F}"/>
              </a:ext>
            </a:extLst>
          </p:cNvPr>
          <p:cNvSpPr>
            <a:spLocks noGrp="1"/>
          </p:cNvSpPr>
          <p:nvPr>
            <p:ph type="title"/>
          </p:nvPr>
        </p:nvSpPr>
        <p:spPr>
          <a:xfrm>
            <a:off x="838199" y="336317"/>
            <a:ext cx="10424648" cy="744449"/>
          </a:xfrm>
        </p:spPr>
        <p:txBody>
          <a:bodyPr>
            <a:normAutofit/>
          </a:bodyPr>
          <a:lstStyle/>
          <a:p>
            <a:pPr algn="ctr"/>
            <a:r>
              <a:rPr lang="en-US" b="1">
                <a:latin typeface="Times New Roman"/>
                <a:ea typeface="+mj-lt"/>
                <a:cs typeface="Times New Roman"/>
              </a:rPr>
              <a:t>Differential Privacy</a:t>
            </a:r>
            <a:endParaRPr lang="en-US" b="1">
              <a:latin typeface="Times New Roman"/>
              <a:cs typeface="Times New Roman"/>
            </a:endParaRPr>
          </a:p>
        </p:txBody>
      </p:sp>
      <p:sp>
        <p:nvSpPr>
          <p:cNvPr id="4" name="TextBox 3">
            <a:extLst>
              <a:ext uri="{FF2B5EF4-FFF2-40B4-BE49-F238E27FC236}">
                <a16:creationId xmlns:a16="http://schemas.microsoft.com/office/drawing/2014/main" id="{95F65C04-D5A8-91FE-D625-3B2D959EE3B1}"/>
              </a:ext>
            </a:extLst>
          </p:cNvPr>
          <p:cNvSpPr txBox="1"/>
          <p:nvPr/>
        </p:nvSpPr>
        <p:spPr>
          <a:xfrm>
            <a:off x="1143000" y="1300914"/>
            <a:ext cx="991552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000000"/>
                </a:solidFill>
                <a:latin typeface="Times New Roman"/>
                <a:ea typeface="+mn-lt"/>
                <a:cs typeface="Times New Roman"/>
              </a:rPr>
              <a:t>Differential Privacy</a:t>
            </a:r>
          </a:p>
          <a:p>
            <a:pPr marL="342900" indent="-342900">
              <a:buFont typeface="Arial"/>
              <a:buChar char="•"/>
            </a:pPr>
            <a:r>
              <a:rPr lang="en-US" sz="2400">
                <a:latin typeface="Times New Roman"/>
                <a:ea typeface="+mn-lt"/>
                <a:cs typeface="Times New Roman"/>
              </a:rPr>
              <a:t>Adds noise to data or results</a:t>
            </a:r>
          </a:p>
          <a:p>
            <a:pPr marL="342900" indent="-342900">
              <a:buFont typeface="Arial"/>
              <a:buChar char="•"/>
            </a:pPr>
            <a:r>
              <a:rPr lang="en-US" sz="2400">
                <a:latin typeface="Times New Roman"/>
                <a:ea typeface="+mn-lt"/>
                <a:cs typeface="Times New Roman"/>
              </a:rPr>
              <a:t>Hides individual patient contribution</a:t>
            </a:r>
          </a:p>
          <a:p>
            <a:pPr marL="342900" indent="-342900">
              <a:buFont typeface="Arial"/>
              <a:buChar char="•"/>
            </a:pPr>
            <a:r>
              <a:rPr lang="en-US" sz="2400">
                <a:latin typeface="Times New Roman"/>
                <a:ea typeface="+mn-lt"/>
                <a:cs typeface="Times New Roman"/>
              </a:rPr>
              <a:t>Useful for sharing statistics</a:t>
            </a:r>
          </a:p>
          <a:p>
            <a:pPr marL="342900" indent="-342900">
              <a:buFont typeface="Arial"/>
              <a:buChar char="•"/>
            </a:pPr>
            <a:r>
              <a:rPr lang="en-US" sz="2400">
                <a:latin typeface="Times New Roman"/>
                <a:ea typeface="+mn-lt"/>
                <a:cs typeface="Times New Roman"/>
              </a:rPr>
              <a:t>Good privacy protection</a:t>
            </a:r>
          </a:p>
          <a:p>
            <a:pPr marL="342900" indent="-342900">
              <a:buFont typeface="Arial"/>
              <a:buChar char="•"/>
            </a:pPr>
            <a:r>
              <a:rPr lang="en-US" sz="2400">
                <a:latin typeface="Times New Roman"/>
                <a:ea typeface="+mn-lt"/>
                <a:cs typeface="Times New Roman"/>
              </a:rPr>
              <a:t>But too much noise can reduce accuracy</a:t>
            </a:r>
            <a:endParaRPr lang="en-US" sz="2400" dirty="0">
              <a:latin typeface="Times New Roman"/>
              <a:cs typeface="Times New Roman"/>
            </a:endParaRPr>
          </a:p>
        </p:txBody>
      </p:sp>
    </p:spTree>
    <p:extLst>
      <p:ext uri="{BB962C8B-B14F-4D97-AF65-F5344CB8AC3E}">
        <p14:creationId xmlns:p14="http://schemas.microsoft.com/office/powerpoint/2010/main" val="90680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F0FAA-F16B-3458-0F66-DE9107CA2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91EB9-31E8-CD39-8888-C9E9E52DB8A6}"/>
              </a:ext>
            </a:extLst>
          </p:cNvPr>
          <p:cNvSpPr>
            <a:spLocks noGrp="1"/>
          </p:cNvSpPr>
          <p:nvPr>
            <p:ph type="title"/>
          </p:nvPr>
        </p:nvSpPr>
        <p:spPr>
          <a:xfrm>
            <a:off x="838199" y="386449"/>
            <a:ext cx="10424648" cy="1115422"/>
          </a:xfrm>
        </p:spPr>
        <p:txBody>
          <a:bodyPr>
            <a:noAutofit/>
          </a:bodyPr>
          <a:lstStyle/>
          <a:p>
            <a:pPr algn="ctr"/>
            <a:r>
              <a:rPr lang="en-US" b="1">
                <a:latin typeface="Times New Roman"/>
                <a:ea typeface="+mj-lt"/>
                <a:cs typeface="Times New Roman"/>
              </a:rPr>
              <a:t>Federated Learning, Blockchain, and Hybrid Methods</a:t>
            </a:r>
            <a:endParaRPr lang="en-US" b="1">
              <a:latin typeface="Times New Roman"/>
              <a:cs typeface="Times New Roman"/>
            </a:endParaRPr>
          </a:p>
        </p:txBody>
      </p:sp>
      <p:sp>
        <p:nvSpPr>
          <p:cNvPr id="3" name="TextBox 2">
            <a:extLst>
              <a:ext uri="{FF2B5EF4-FFF2-40B4-BE49-F238E27FC236}">
                <a16:creationId xmlns:a16="http://schemas.microsoft.com/office/drawing/2014/main" id="{154F8FAE-E0B7-A3CB-0075-BA51A7D2F3BE}"/>
              </a:ext>
            </a:extLst>
          </p:cNvPr>
          <p:cNvSpPr txBox="1"/>
          <p:nvPr/>
        </p:nvSpPr>
        <p:spPr>
          <a:xfrm>
            <a:off x="892843" y="1741571"/>
            <a:ext cx="10315575"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b="1">
                <a:solidFill>
                  <a:srgbClr val="000000"/>
                </a:solidFill>
                <a:latin typeface="Times New Roman"/>
                <a:ea typeface="+mn-lt"/>
                <a:cs typeface="Times New Roman"/>
              </a:rPr>
              <a:t>Federated Learning</a:t>
            </a:r>
          </a:p>
          <a:p>
            <a:pPr marL="342900" indent="-342900" algn="just">
              <a:buFont typeface="Arial"/>
              <a:buChar char="•"/>
            </a:pPr>
            <a:r>
              <a:rPr lang="en-US" sz="2000">
                <a:latin typeface="Times New Roman"/>
                <a:ea typeface="+mn-lt"/>
                <a:cs typeface="Times New Roman"/>
              </a:rPr>
              <a:t>Data stays inside hospitals</a:t>
            </a:r>
          </a:p>
          <a:p>
            <a:pPr marL="342900" indent="-342900" algn="just">
              <a:buFont typeface="Arial"/>
              <a:buChar char="•"/>
            </a:pPr>
            <a:r>
              <a:rPr lang="en-US" sz="2000">
                <a:latin typeface="Times New Roman"/>
                <a:ea typeface="+mn-lt"/>
                <a:cs typeface="Times New Roman"/>
              </a:rPr>
              <a:t>Each hospital trains locally</a:t>
            </a:r>
          </a:p>
          <a:p>
            <a:pPr marL="342900" indent="-342900" algn="just">
              <a:buFont typeface="Arial"/>
              <a:buChar char="•"/>
            </a:pPr>
            <a:r>
              <a:rPr lang="en-US" sz="2000">
                <a:latin typeface="Times New Roman"/>
                <a:ea typeface="+mn-lt"/>
                <a:cs typeface="Times New Roman"/>
              </a:rPr>
              <a:t>Only model updates are shared</a:t>
            </a:r>
          </a:p>
          <a:p>
            <a:pPr algn="just"/>
            <a:endParaRPr lang="en-US" sz="1200" dirty="0">
              <a:latin typeface="Times New Roman"/>
              <a:cs typeface="Times New Roman"/>
            </a:endParaRPr>
          </a:p>
          <a:p>
            <a:pPr algn="just"/>
            <a:r>
              <a:rPr lang="en-US" sz="2000" b="1">
                <a:latin typeface="Times New Roman"/>
                <a:ea typeface="+mn-lt"/>
                <a:cs typeface="Times New Roman"/>
              </a:rPr>
              <a:t>Blockchain</a:t>
            </a:r>
          </a:p>
          <a:p>
            <a:pPr marL="342900" indent="-342900" algn="just">
              <a:buFont typeface="Arial"/>
              <a:buChar char="•"/>
            </a:pPr>
            <a:r>
              <a:rPr lang="en-US" sz="2000">
                <a:latin typeface="Times New Roman"/>
                <a:ea typeface="+mn-lt"/>
                <a:cs typeface="Times New Roman"/>
              </a:rPr>
              <a:t>Can support secure records</a:t>
            </a:r>
          </a:p>
          <a:p>
            <a:pPr marL="342900" indent="-342900" algn="just">
              <a:buFont typeface="Arial"/>
              <a:buChar char="•"/>
            </a:pPr>
            <a:r>
              <a:rPr lang="en-US" sz="2000">
                <a:latin typeface="Times New Roman"/>
                <a:ea typeface="+mn-lt"/>
                <a:cs typeface="Times New Roman"/>
              </a:rPr>
              <a:t>Helps with trust and access control</a:t>
            </a:r>
          </a:p>
          <a:p>
            <a:pPr algn="just"/>
            <a:endParaRPr lang="en-US" sz="1200" dirty="0">
              <a:latin typeface="Times New Roman"/>
              <a:cs typeface="Times New Roman"/>
            </a:endParaRPr>
          </a:p>
          <a:p>
            <a:pPr algn="just"/>
            <a:r>
              <a:rPr lang="en-US" sz="2000" b="1">
                <a:latin typeface="Times New Roman"/>
                <a:ea typeface="+mn-lt"/>
                <a:cs typeface="Times New Roman"/>
              </a:rPr>
              <a:t>Hybrid Methods</a:t>
            </a:r>
          </a:p>
          <a:p>
            <a:pPr marL="342900" indent="-342900" algn="just">
              <a:buFont typeface="Arial"/>
              <a:buChar char="•"/>
            </a:pPr>
            <a:r>
              <a:rPr lang="en-US" sz="2000">
                <a:latin typeface="Times New Roman"/>
                <a:ea typeface="+mn-lt"/>
                <a:cs typeface="Times New Roman"/>
              </a:rPr>
              <a:t>Combine multiple techniques</a:t>
            </a:r>
          </a:p>
          <a:p>
            <a:pPr marL="342900" indent="-342900" algn="just">
              <a:buFont typeface="Arial"/>
              <a:buChar char="•"/>
            </a:pPr>
            <a:r>
              <a:rPr lang="en-US" sz="2000" b="1">
                <a:latin typeface="Times New Roman"/>
                <a:ea typeface="+mn-lt"/>
                <a:cs typeface="Times New Roman"/>
              </a:rPr>
              <a:t>Examples</a:t>
            </a:r>
            <a:r>
              <a:rPr lang="en-US" sz="2000">
                <a:latin typeface="Times New Roman"/>
                <a:ea typeface="+mn-lt"/>
                <a:cs typeface="Times New Roman"/>
              </a:rPr>
              <a:t>:</a:t>
            </a:r>
          </a:p>
          <a:p>
            <a:pPr marL="800100" lvl="1" indent="-342900" algn="just">
              <a:buFont typeface="Arial"/>
              <a:buChar char="•"/>
            </a:pPr>
            <a:r>
              <a:rPr lang="en-US" sz="2000">
                <a:latin typeface="Times New Roman"/>
                <a:ea typeface="+mn-lt"/>
                <a:cs typeface="Times New Roman"/>
              </a:rPr>
              <a:t>Federated Learning with Differential Privacy</a:t>
            </a:r>
          </a:p>
          <a:p>
            <a:pPr marL="800100" lvl="1" indent="-342900" algn="just">
              <a:buFont typeface="Arial"/>
              <a:buChar char="•"/>
            </a:pPr>
            <a:r>
              <a:rPr lang="en-US" sz="2000">
                <a:latin typeface="Times New Roman"/>
                <a:ea typeface="+mn-lt"/>
                <a:cs typeface="Times New Roman"/>
              </a:rPr>
              <a:t>Federated Learning with Homomorphic Encryption</a:t>
            </a:r>
          </a:p>
          <a:p>
            <a:pPr marL="800100" lvl="1" indent="-342900" algn="just">
              <a:buFont typeface="Arial"/>
              <a:buChar char="•"/>
            </a:pPr>
            <a:r>
              <a:rPr lang="en-US" sz="2000">
                <a:latin typeface="Times New Roman"/>
                <a:ea typeface="+mn-lt"/>
                <a:cs typeface="Times New Roman"/>
              </a:rPr>
              <a:t>Federated Learning with Secure Multiparty Computation</a:t>
            </a:r>
          </a:p>
          <a:p>
            <a:pPr marL="800100" lvl="1" indent="-342900" algn="just">
              <a:buFont typeface="Arial"/>
              <a:buChar char="•"/>
            </a:pPr>
            <a:r>
              <a:rPr lang="en-US" sz="2000">
                <a:latin typeface="Times New Roman"/>
                <a:ea typeface="+mn-lt"/>
                <a:cs typeface="Times New Roman"/>
              </a:rPr>
              <a:t>Federated Learning with Blockchain</a:t>
            </a:r>
          </a:p>
        </p:txBody>
      </p:sp>
    </p:spTree>
    <p:extLst>
      <p:ext uri="{BB962C8B-B14F-4D97-AF65-F5344CB8AC3E}">
        <p14:creationId xmlns:p14="http://schemas.microsoft.com/office/powerpoint/2010/main" val="2912648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7CB7A0-EFC2-4FA0-4E5D-128A2431B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A3976-ECFD-A346-BAA4-2A1A37EBADD7}"/>
              </a:ext>
            </a:extLst>
          </p:cNvPr>
          <p:cNvSpPr>
            <a:spLocks noGrp="1"/>
          </p:cNvSpPr>
          <p:nvPr>
            <p:ph type="title"/>
          </p:nvPr>
        </p:nvSpPr>
        <p:spPr>
          <a:xfrm>
            <a:off x="838199" y="356370"/>
            <a:ext cx="10424648" cy="744449"/>
          </a:xfrm>
        </p:spPr>
        <p:txBody>
          <a:bodyPr>
            <a:normAutofit/>
          </a:bodyPr>
          <a:lstStyle/>
          <a:p>
            <a:pPr algn="ctr"/>
            <a:r>
              <a:rPr lang="en-US" b="1">
                <a:latin typeface="Times New Roman"/>
                <a:ea typeface="+mj-lt"/>
                <a:cs typeface="Times New Roman"/>
              </a:rPr>
              <a:t>Open Challenges</a:t>
            </a:r>
            <a:endParaRPr lang="en-US" b="1">
              <a:latin typeface="Times New Roman"/>
              <a:cs typeface="Times New Roman"/>
            </a:endParaRPr>
          </a:p>
        </p:txBody>
      </p:sp>
      <p:sp>
        <p:nvSpPr>
          <p:cNvPr id="3" name="TextBox 2">
            <a:extLst>
              <a:ext uri="{FF2B5EF4-FFF2-40B4-BE49-F238E27FC236}">
                <a16:creationId xmlns:a16="http://schemas.microsoft.com/office/drawing/2014/main" id="{225D673A-5F26-7F51-BEE2-8EA9660D6F0D}"/>
              </a:ext>
            </a:extLst>
          </p:cNvPr>
          <p:cNvSpPr txBox="1"/>
          <p:nvPr/>
        </p:nvSpPr>
        <p:spPr>
          <a:xfrm>
            <a:off x="942975" y="1234240"/>
            <a:ext cx="1031557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dirty="0">
                <a:solidFill>
                  <a:srgbClr val="000000"/>
                </a:solidFill>
                <a:latin typeface="Times New Roman"/>
                <a:ea typeface="+mn-lt"/>
                <a:cs typeface="Times New Roman"/>
              </a:rPr>
              <a:t>Unsolved problems identified in the paper</a:t>
            </a:r>
            <a:endParaRPr lang="en-US" sz="2400" b="1" dirty="0">
              <a:latin typeface="Times New Roman"/>
              <a:cs typeface="Times New Roman"/>
            </a:endParaRPr>
          </a:p>
          <a:p>
            <a:pPr marL="342900" indent="-342900" algn="just">
              <a:buFont typeface="Arial"/>
              <a:buChar char="•"/>
            </a:pPr>
            <a:r>
              <a:rPr lang="en-US" sz="2000" b="1">
                <a:solidFill>
                  <a:srgbClr val="000000"/>
                </a:solidFill>
                <a:latin typeface="Arial"/>
                <a:ea typeface="+mn-lt"/>
                <a:cs typeface="Arial"/>
              </a:rPr>
              <a:t>Privacy vs accuracy:</a:t>
            </a:r>
            <a:r>
              <a:rPr lang="en-US" sz="2000">
                <a:latin typeface="Arial"/>
                <a:ea typeface="+mn-lt"/>
                <a:cs typeface="Arial"/>
              </a:rPr>
              <a:t> Stronger privacy can reduce performance.</a:t>
            </a:r>
          </a:p>
          <a:p>
            <a:pPr marL="342900" indent="-342900" algn="just">
              <a:buFont typeface="Arial"/>
              <a:buChar char="•"/>
            </a:pPr>
            <a:r>
              <a:rPr lang="en-US" sz="2000" b="1">
                <a:latin typeface="Arial"/>
                <a:ea typeface="+mn-lt"/>
                <a:cs typeface="Arial"/>
              </a:rPr>
              <a:t>High computation cost:</a:t>
            </a:r>
            <a:r>
              <a:rPr lang="en-US" sz="2000">
                <a:latin typeface="Arial"/>
                <a:ea typeface="+mn-lt"/>
                <a:cs typeface="Arial"/>
              </a:rPr>
              <a:t> Methods like Homomorphic Encryption can be slow.</a:t>
            </a:r>
          </a:p>
          <a:p>
            <a:pPr marL="342900" indent="-342900" algn="just">
              <a:buFont typeface="Arial"/>
              <a:buChar char="•"/>
            </a:pPr>
            <a:r>
              <a:rPr lang="en-US" sz="2000" b="1">
                <a:latin typeface="Arial"/>
                <a:ea typeface="+mn-lt"/>
                <a:cs typeface="Arial"/>
              </a:rPr>
              <a:t>Scalability:</a:t>
            </a:r>
            <a:r>
              <a:rPr lang="en-US" sz="2000">
                <a:latin typeface="Arial"/>
                <a:ea typeface="+mn-lt"/>
                <a:cs typeface="Arial"/>
              </a:rPr>
              <a:t> Difficult for large hospital datasets.</a:t>
            </a:r>
          </a:p>
          <a:p>
            <a:pPr marL="342900" indent="-342900" algn="just">
              <a:buFont typeface="Arial"/>
              <a:buChar char="•"/>
            </a:pPr>
            <a:r>
              <a:rPr lang="en-US" sz="2000" b="1">
                <a:latin typeface="Arial"/>
                <a:ea typeface="+mn-lt"/>
                <a:cs typeface="Arial"/>
              </a:rPr>
              <a:t>Model attacks:</a:t>
            </a:r>
            <a:r>
              <a:rPr lang="en-US" sz="2000">
                <a:latin typeface="Arial"/>
                <a:ea typeface="+mn-lt"/>
                <a:cs typeface="Arial"/>
              </a:rPr>
              <a:t> Federated Learning can still face privacy risks.</a:t>
            </a:r>
          </a:p>
          <a:p>
            <a:pPr marL="342900" indent="-342900" algn="just">
              <a:buFont typeface="Arial"/>
              <a:buChar char="•"/>
            </a:pPr>
            <a:r>
              <a:rPr lang="en-US" sz="2000" b="1">
                <a:latin typeface="Arial"/>
                <a:ea typeface="+mn-lt"/>
                <a:cs typeface="Arial"/>
              </a:rPr>
              <a:t>Data sharing:</a:t>
            </a:r>
            <a:r>
              <a:rPr lang="en-US" sz="2000">
                <a:latin typeface="Arial"/>
                <a:ea typeface="+mn-lt"/>
                <a:cs typeface="Arial"/>
              </a:rPr>
              <a:t> Hospitals may not trust each other easily.</a:t>
            </a:r>
          </a:p>
          <a:p>
            <a:pPr marL="342900" indent="-342900" algn="just">
              <a:buFont typeface="Arial"/>
              <a:buChar char="•"/>
            </a:pPr>
            <a:r>
              <a:rPr lang="en-US" sz="2000" b="1">
                <a:latin typeface="Arial"/>
                <a:ea typeface="+mn-lt"/>
                <a:cs typeface="Arial"/>
              </a:rPr>
              <a:t>Hybrid methods:</a:t>
            </a:r>
            <a:r>
              <a:rPr lang="en-US" sz="2000">
                <a:latin typeface="Arial"/>
                <a:ea typeface="+mn-lt"/>
                <a:cs typeface="Arial"/>
              </a:rPr>
              <a:t> Promising but complex</a:t>
            </a:r>
            <a:endParaRPr lang="en-US" sz="2000" dirty="0">
              <a:latin typeface="Arial"/>
              <a:ea typeface="+mn-lt"/>
              <a:cs typeface="Arial"/>
            </a:endParaRPr>
          </a:p>
        </p:txBody>
      </p:sp>
    </p:spTree>
    <p:extLst>
      <p:ext uri="{BB962C8B-B14F-4D97-AF65-F5344CB8AC3E}">
        <p14:creationId xmlns:p14="http://schemas.microsoft.com/office/powerpoint/2010/main" val="3083088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687BE9-853B-C174-6F4F-A787D305F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C48B04-0B44-1557-1E29-C0131897181E}"/>
              </a:ext>
            </a:extLst>
          </p:cNvPr>
          <p:cNvSpPr>
            <a:spLocks noGrp="1"/>
          </p:cNvSpPr>
          <p:nvPr>
            <p:ph type="title"/>
          </p:nvPr>
        </p:nvSpPr>
        <p:spPr>
          <a:xfrm>
            <a:off x="838199" y="356370"/>
            <a:ext cx="10424648" cy="744449"/>
          </a:xfrm>
        </p:spPr>
        <p:txBody>
          <a:bodyPr>
            <a:normAutofit/>
          </a:bodyPr>
          <a:lstStyle/>
          <a:p>
            <a:pPr algn="ctr"/>
            <a:r>
              <a:rPr lang="en-US" b="1">
                <a:latin typeface="Times New Roman"/>
                <a:ea typeface="+mj-lt"/>
                <a:cs typeface="Times New Roman"/>
              </a:rPr>
              <a:t>Critical Analysis</a:t>
            </a:r>
            <a:endParaRPr lang="en-US" b="1">
              <a:latin typeface="Times New Roman"/>
              <a:cs typeface="Times New Roman"/>
            </a:endParaRPr>
          </a:p>
        </p:txBody>
      </p:sp>
      <p:sp>
        <p:nvSpPr>
          <p:cNvPr id="3" name="TextBox 2">
            <a:extLst>
              <a:ext uri="{FF2B5EF4-FFF2-40B4-BE49-F238E27FC236}">
                <a16:creationId xmlns:a16="http://schemas.microsoft.com/office/drawing/2014/main" id="{14C0F90D-7F37-C161-BD96-701D2D11BF05}"/>
              </a:ext>
            </a:extLst>
          </p:cNvPr>
          <p:cNvSpPr txBox="1"/>
          <p:nvPr/>
        </p:nvSpPr>
        <p:spPr>
          <a:xfrm>
            <a:off x="942975" y="1234240"/>
            <a:ext cx="1031557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solidFill>
                  <a:srgbClr val="000000"/>
                </a:solidFill>
                <a:latin typeface="Times New Roman"/>
                <a:ea typeface="+mn-lt"/>
                <a:cs typeface="Times New Roman"/>
              </a:rPr>
              <a:t>My personal view of the paper</a:t>
            </a:r>
            <a:endParaRPr lang="en-US" sz="2400" b="1">
              <a:latin typeface="Times New Roman"/>
              <a:ea typeface="+mn-lt"/>
              <a:cs typeface="Times New Roman"/>
            </a:endParaRPr>
          </a:p>
          <a:p>
            <a:pPr algn="just"/>
            <a:endParaRPr lang="en-US" sz="1200" dirty="0">
              <a:solidFill>
                <a:srgbClr val="000000"/>
              </a:solidFill>
              <a:latin typeface="Times New Roman"/>
              <a:ea typeface="+mn-lt"/>
              <a:cs typeface="Times New Roman"/>
            </a:endParaRPr>
          </a:p>
          <a:p>
            <a:pPr algn="just"/>
            <a:r>
              <a:rPr lang="en-US" sz="2000" b="1">
                <a:solidFill>
                  <a:srgbClr val="000000"/>
                </a:solidFill>
                <a:latin typeface="Times New Roman"/>
                <a:ea typeface="+mn-lt"/>
                <a:cs typeface="Times New Roman"/>
              </a:rPr>
              <a:t>What I liked</a:t>
            </a:r>
            <a:endParaRPr lang="en-US" sz="2000" b="1">
              <a:latin typeface="Times New Roman"/>
              <a:cs typeface="Times New Roman"/>
            </a:endParaRPr>
          </a:p>
          <a:p>
            <a:pPr marL="342900" indent="-342900" algn="just">
              <a:buFont typeface="Arial"/>
              <a:buChar char="•"/>
            </a:pPr>
            <a:r>
              <a:rPr lang="en-US" sz="2000">
                <a:latin typeface="Times New Roman"/>
                <a:ea typeface="+mn-lt"/>
                <a:cs typeface="Times New Roman"/>
              </a:rPr>
              <a:t>Clear taxonomy of privacy techniques</a:t>
            </a:r>
          </a:p>
          <a:p>
            <a:pPr marL="342900" indent="-342900" algn="just">
              <a:buFont typeface="Arial"/>
              <a:buChar char="•"/>
            </a:pPr>
            <a:r>
              <a:rPr lang="en-US" sz="2000">
                <a:latin typeface="Times New Roman"/>
                <a:ea typeface="+mn-lt"/>
                <a:cs typeface="Times New Roman"/>
              </a:rPr>
              <a:t>Good explanation of attacks and solutions</a:t>
            </a:r>
          </a:p>
          <a:p>
            <a:pPr marL="342900" indent="-342900" algn="just">
              <a:buFont typeface="Arial"/>
              <a:buChar char="•"/>
            </a:pPr>
            <a:r>
              <a:rPr lang="en-US" sz="2000">
                <a:latin typeface="Times New Roman"/>
                <a:ea typeface="+mn-lt"/>
                <a:cs typeface="Times New Roman"/>
              </a:rPr>
              <a:t>Useful comparison tables</a:t>
            </a:r>
          </a:p>
          <a:p>
            <a:pPr marL="342900" indent="-342900" algn="just">
              <a:buFont typeface="Arial"/>
              <a:buChar char="•"/>
            </a:pPr>
            <a:r>
              <a:rPr lang="en-US" sz="2000">
                <a:latin typeface="Times New Roman"/>
                <a:ea typeface="+mn-lt"/>
                <a:cs typeface="Times New Roman"/>
              </a:rPr>
              <a:t>Strong focus on healthcare privacy</a:t>
            </a:r>
          </a:p>
          <a:p>
            <a:pPr algn="just"/>
            <a:endParaRPr lang="en-US" sz="2000" b="1" dirty="0">
              <a:latin typeface="Times New Roman"/>
              <a:cs typeface="Times New Roman"/>
            </a:endParaRPr>
          </a:p>
          <a:p>
            <a:pPr algn="just"/>
            <a:r>
              <a:rPr lang="en-US" sz="2000" b="1">
                <a:latin typeface="Times New Roman"/>
                <a:ea typeface="+mn-lt"/>
                <a:cs typeface="Times New Roman"/>
              </a:rPr>
              <a:t>What I think is missing</a:t>
            </a:r>
            <a:endParaRPr lang="en-US" b="1">
              <a:latin typeface="Times New Roman"/>
              <a:cs typeface="Times New Roman"/>
            </a:endParaRPr>
          </a:p>
          <a:p>
            <a:pPr marL="342900" indent="-342900" algn="just">
              <a:buFont typeface="Arial,Sans-Serif"/>
              <a:buChar char="•"/>
            </a:pPr>
            <a:r>
              <a:rPr lang="en-US" sz="2000">
                <a:latin typeface="Times New Roman"/>
                <a:ea typeface="+mn-lt"/>
                <a:cs typeface="Times New Roman"/>
              </a:rPr>
              <a:t>More real hospital case studies</a:t>
            </a:r>
            <a:endParaRPr lang="en-US" sz="2000">
              <a:latin typeface="Times New Roman"/>
              <a:cs typeface="Times New Roman"/>
            </a:endParaRPr>
          </a:p>
          <a:p>
            <a:pPr marL="342900" indent="-342900" algn="just">
              <a:buFont typeface="Arial,Sans-Serif"/>
              <a:buChar char="•"/>
            </a:pPr>
            <a:r>
              <a:rPr lang="en-US" sz="2000">
                <a:latin typeface="Times New Roman"/>
                <a:ea typeface="+mn-lt"/>
                <a:cs typeface="Times New Roman"/>
              </a:rPr>
              <a:t>Clear guidance on which method is best</a:t>
            </a:r>
            <a:endParaRPr lang="en-US" sz="2000">
              <a:latin typeface="Times New Roman"/>
              <a:cs typeface="Times New Roman"/>
            </a:endParaRPr>
          </a:p>
          <a:p>
            <a:pPr marL="342900" indent="-342900" algn="just">
              <a:buFont typeface="Arial,Sans-Serif"/>
              <a:buChar char="•"/>
            </a:pPr>
            <a:r>
              <a:rPr lang="en-US" sz="2000">
                <a:latin typeface="Times New Roman"/>
                <a:ea typeface="+mn-lt"/>
                <a:cs typeface="Times New Roman"/>
              </a:rPr>
              <a:t>More discussion on patient consent</a:t>
            </a:r>
            <a:endParaRPr lang="en-US" sz="2000">
              <a:latin typeface="Times New Roman"/>
              <a:cs typeface="Times New Roman"/>
            </a:endParaRPr>
          </a:p>
          <a:p>
            <a:pPr marL="342900" indent="-342900" algn="just">
              <a:buFont typeface="Arial,Sans-Serif"/>
              <a:buChar char="•"/>
            </a:pPr>
            <a:r>
              <a:rPr lang="en-US" sz="2000">
                <a:latin typeface="Times New Roman"/>
                <a:ea typeface="+mn-lt"/>
                <a:cs typeface="Times New Roman"/>
              </a:rPr>
              <a:t>Less focus on newer AI tools like medical chatbots and LLMs</a:t>
            </a:r>
            <a:endParaRPr lang="en-US" sz="2000">
              <a:latin typeface="Times New Roman"/>
              <a:cs typeface="Times New Roman"/>
            </a:endParaRPr>
          </a:p>
          <a:p>
            <a:pPr marL="342900" indent="-342900" algn="just">
              <a:buFont typeface="Arial,Sans-Serif"/>
              <a:buChar char="•"/>
            </a:pPr>
            <a:r>
              <a:rPr lang="en-US" sz="2000">
                <a:latin typeface="Times New Roman"/>
                <a:ea typeface="+mn-lt"/>
                <a:cs typeface="Times New Roman"/>
              </a:rPr>
              <a:t>Some sections feel broad, not deeply compared</a:t>
            </a:r>
            <a:endParaRPr lang="en-US" sz="2000" dirty="0">
              <a:latin typeface="Times New Roman"/>
              <a:cs typeface="Times New Roman"/>
            </a:endParaRPr>
          </a:p>
          <a:p>
            <a:pPr algn="just"/>
            <a:endParaRPr lang="en-US" sz="1200" dirty="0">
              <a:latin typeface="Times New Roman"/>
              <a:cs typeface="Times New Roman"/>
            </a:endParaRPr>
          </a:p>
        </p:txBody>
      </p:sp>
    </p:spTree>
    <p:extLst>
      <p:ext uri="{BB962C8B-B14F-4D97-AF65-F5344CB8AC3E}">
        <p14:creationId xmlns:p14="http://schemas.microsoft.com/office/powerpoint/2010/main" val="695198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D1B30-6FFE-ADF2-1366-803CB3DBDE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056B1-D2AC-0141-A954-B39C70CCEF5C}"/>
              </a:ext>
            </a:extLst>
          </p:cNvPr>
          <p:cNvSpPr>
            <a:spLocks noGrp="1"/>
          </p:cNvSpPr>
          <p:nvPr>
            <p:ph type="title"/>
          </p:nvPr>
        </p:nvSpPr>
        <p:spPr>
          <a:xfrm>
            <a:off x="838199" y="356370"/>
            <a:ext cx="10424648" cy="744449"/>
          </a:xfrm>
        </p:spPr>
        <p:txBody>
          <a:bodyPr>
            <a:normAutofit/>
          </a:bodyPr>
          <a:lstStyle/>
          <a:p>
            <a:pPr algn="ctr"/>
            <a:r>
              <a:rPr lang="en-US" b="1">
                <a:latin typeface="Times New Roman"/>
                <a:ea typeface="+mj-lt"/>
                <a:cs typeface="Times New Roman"/>
              </a:rPr>
              <a:t>Conclusion</a:t>
            </a:r>
            <a:endParaRPr lang="en-US" b="1">
              <a:latin typeface="Times New Roman"/>
              <a:cs typeface="Times New Roman"/>
            </a:endParaRPr>
          </a:p>
        </p:txBody>
      </p:sp>
      <p:sp>
        <p:nvSpPr>
          <p:cNvPr id="3" name="TextBox 2">
            <a:extLst>
              <a:ext uri="{FF2B5EF4-FFF2-40B4-BE49-F238E27FC236}">
                <a16:creationId xmlns:a16="http://schemas.microsoft.com/office/drawing/2014/main" id="{482669C6-9D2D-B584-E156-3A58E17B6771}"/>
              </a:ext>
            </a:extLst>
          </p:cNvPr>
          <p:cNvSpPr txBox="1"/>
          <p:nvPr/>
        </p:nvSpPr>
        <p:spPr>
          <a:xfrm>
            <a:off x="942975" y="1234240"/>
            <a:ext cx="1031557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latin typeface="Times New Roman"/>
                <a:ea typeface="+mn-lt"/>
                <a:cs typeface="Times New Roman"/>
              </a:rPr>
              <a:t>Final takeaway</a:t>
            </a:r>
            <a:endParaRPr lang="en-US">
              <a:latin typeface="Times New Roman"/>
              <a:cs typeface="Times New Roman"/>
            </a:endParaRPr>
          </a:p>
          <a:p>
            <a:pPr algn="just"/>
            <a:endParaRPr lang="en-US" sz="1200" dirty="0"/>
          </a:p>
          <a:p>
            <a:pPr algn="just"/>
            <a:r>
              <a:rPr lang="en-US" sz="2000">
                <a:latin typeface="Times New Roman"/>
                <a:ea typeface="+mn-lt"/>
                <a:cs typeface="Times New Roman"/>
              </a:rPr>
              <a:t>In this paper, I found that privacy is one of the biggest challenges for using AI in real healthcare systems. AI can help in many areas, but it depends on sensitive patient data. Because of that, privacy and security need to be considered from the beginning.</a:t>
            </a:r>
            <a:endParaRPr lang="en-US">
              <a:latin typeface="Times New Roman"/>
              <a:ea typeface="+mn-lt"/>
              <a:cs typeface="Times New Roman"/>
            </a:endParaRPr>
          </a:p>
          <a:p>
            <a:pPr algn="just"/>
            <a:endParaRPr lang="en-US" sz="1200" dirty="0">
              <a:ea typeface="+mn-lt"/>
              <a:cs typeface="+mn-lt"/>
            </a:endParaRPr>
          </a:p>
          <a:p>
            <a:pPr marL="342900" indent="-342900" algn="just">
              <a:buFont typeface="Arial"/>
              <a:buChar char="•"/>
            </a:pPr>
            <a:r>
              <a:rPr lang="en-US" sz="2000">
                <a:latin typeface="Times New Roman"/>
                <a:ea typeface="+mn-lt"/>
                <a:cs typeface="Times New Roman"/>
              </a:rPr>
              <a:t>The paper shows that healthcare AI can face both data privacy and model privacy risks.</a:t>
            </a:r>
          </a:p>
          <a:p>
            <a:pPr marL="342900" indent="-342900" algn="just">
              <a:buFont typeface="Arial"/>
              <a:buChar char="•"/>
            </a:pPr>
            <a:r>
              <a:rPr lang="en-US" sz="2000">
                <a:latin typeface="Times New Roman"/>
                <a:ea typeface="+mn-lt"/>
                <a:cs typeface="Times New Roman"/>
              </a:rPr>
              <a:t>It also reviews useful solutions such as </a:t>
            </a:r>
            <a:r>
              <a:rPr lang="en-US" sz="2000" b="1">
                <a:latin typeface="Times New Roman"/>
                <a:ea typeface="+mn-lt"/>
                <a:cs typeface="Times New Roman"/>
              </a:rPr>
              <a:t>Homomorphic Encryption</a:t>
            </a:r>
            <a:r>
              <a:rPr lang="en-US" sz="2000">
                <a:latin typeface="Times New Roman"/>
                <a:ea typeface="+mn-lt"/>
                <a:cs typeface="Times New Roman"/>
              </a:rPr>
              <a:t>, </a:t>
            </a:r>
            <a:r>
              <a:rPr lang="en-US" sz="2000" b="1">
                <a:latin typeface="Times New Roman"/>
                <a:ea typeface="+mn-lt"/>
                <a:cs typeface="Times New Roman"/>
              </a:rPr>
              <a:t>SMPC</a:t>
            </a:r>
            <a:r>
              <a:rPr lang="en-US" sz="2000">
                <a:latin typeface="Times New Roman"/>
                <a:ea typeface="+mn-lt"/>
                <a:cs typeface="Times New Roman"/>
              </a:rPr>
              <a:t>, </a:t>
            </a:r>
            <a:r>
              <a:rPr lang="en-US" sz="2000" b="1">
                <a:latin typeface="Times New Roman"/>
                <a:ea typeface="+mn-lt"/>
                <a:cs typeface="Times New Roman"/>
              </a:rPr>
              <a:t>Differential Privacy</a:t>
            </a:r>
            <a:r>
              <a:rPr lang="en-US" sz="2000">
                <a:latin typeface="Times New Roman"/>
                <a:ea typeface="+mn-lt"/>
                <a:cs typeface="Times New Roman"/>
              </a:rPr>
              <a:t>, </a:t>
            </a:r>
            <a:r>
              <a:rPr lang="en-US" sz="2000" b="1">
                <a:latin typeface="Times New Roman"/>
                <a:ea typeface="+mn-lt"/>
                <a:cs typeface="Times New Roman"/>
              </a:rPr>
              <a:t>Federated Learning</a:t>
            </a:r>
            <a:r>
              <a:rPr lang="en-US" sz="2000">
                <a:latin typeface="Times New Roman"/>
                <a:ea typeface="+mn-lt"/>
                <a:cs typeface="Times New Roman"/>
              </a:rPr>
              <a:t>, and </a:t>
            </a:r>
            <a:r>
              <a:rPr lang="en-US" sz="2000" b="1">
                <a:latin typeface="Times New Roman"/>
                <a:ea typeface="+mn-lt"/>
                <a:cs typeface="Times New Roman"/>
              </a:rPr>
              <a:t>Blockchain</a:t>
            </a:r>
            <a:r>
              <a:rPr lang="en-US" sz="2000">
                <a:latin typeface="Times New Roman"/>
                <a:ea typeface="+mn-lt"/>
                <a:cs typeface="Times New Roman"/>
              </a:rPr>
              <a:t>.</a:t>
            </a:r>
          </a:p>
          <a:p>
            <a:pPr marL="342900" indent="-342900" algn="just">
              <a:buFont typeface="Arial"/>
              <a:buChar char="•"/>
            </a:pPr>
            <a:r>
              <a:rPr lang="en-US" sz="2000">
                <a:latin typeface="Times New Roman"/>
                <a:ea typeface="+mn-lt"/>
                <a:cs typeface="Times New Roman"/>
              </a:rPr>
              <a:t>My main understanding is that </a:t>
            </a:r>
            <a:r>
              <a:rPr lang="en-US" sz="2000" b="1">
                <a:latin typeface="Times New Roman"/>
                <a:ea typeface="+mn-lt"/>
                <a:cs typeface="Times New Roman"/>
              </a:rPr>
              <a:t>no single technique can solve every problem</a:t>
            </a:r>
            <a:r>
              <a:rPr lang="en-US" sz="2000">
                <a:latin typeface="Times New Roman"/>
                <a:ea typeface="+mn-lt"/>
                <a:cs typeface="Times New Roman"/>
              </a:rPr>
              <a:t>. Hybrid approaches may be more practical for future healthcare AI systems.</a:t>
            </a:r>
            <a:endParaRPr lang="en-US" sz="2000" dirty="0">
              <a:latin typeface="Times New Roman"/>
              <a:ea typeface="+mn-lt"/>
              <a:cs typeface="Times New Roman"/>
            </a:endParaRPr>
          </a:p>
          <a:p>
            <a:pPr algn="just"/>
            <a:endParaRPr lang="en-US" sz="1200" dirty="0">
              <a:latin typeface="Times New Roman"/>
              <a:cs typeface="Times New Roman"/>
            </a:endParaRPr>
          </a:p>
        </p:txBody>
      </p:sp>
    </p:spTree>
    <p:extLst>
      <p:ext uri="{BB962C8B-B14F-4D97-AF65-F5344CB8AC3E}">
        <p14:creationId xmlns:p14="http://schemas.microsoft.com/office/powerpoint/2010/main" val="3699063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8069" y="365125"/>
            <a:ext cx="10615862" cy="784142"/>
          </a:xfrm>
        </p:spPr>
        <p:txBody>
          <a:bodyPr>
            <a:normAutofit/>
          </a:bodyPr>
          <a:lstStyle/>
          <a:p>
            <a:pPr algn="ctr"/>
            <a:r>
              <a:rPr lang="en-US" b="1">
                <a:latin typeface="Times New Roman"/>
                <a:cs typeface="Times New Roman"/>
              </a:rPr>
              <a:t>Reference</a:t>
            </a:r>
            <a:endParaRPr lang="en-US">
              <a:latin typeface="Times New Roman"/>
              <a:cs typeface="Times New Roman"/>
            </a:endParaRPr>
          </a:p>
        </p:txBody>
      </p:sp>
      <p:sp>
        <p:nvSpPr>
          <p:cNvPr id="3" name="Content Placeholder 2"/>
          <p:cNvSpPr>
            <a:spLocks noGrp="1"/>
          </p:cNvSpPr>
          <p:nvPr>
            <p:ph idx="1"/>
          </p:nvPr>
        </p:nvSpPr>
        <p:spPr>
          <a:xfrm>
            <a:off x="788068" y="1436878"/>
            <a:ext cx="10609545" cy="4438334"/>
          </a:xfrm>
        </p:spPr>
        <p:txBody>
          <a:bodyPr vert="horz" lIns="91440" tIns="45720" rIns="91440" bIns="45720" rtlCol="0" anchor="t">
            <a:noAutofit/>
          </a:bodyPr>
          <a:lstStyle/>
          <a:p>
            <a:pPr marL="0" indent="0" algn="just">
              <a:buNone/>
            </a:pPr>
            <a:r>
              <a:rPr lang="en-US" sz="1400">
                <a:solidFill>
                  <a:srgbClr val="222222"/>
                </a:solidFill>
                <a:highlight>
                  <a:srgbClr val="FFFFFF"/>
                </a:highlight>
                <a:latin typeface="Arial"/>
                <a:ea typeface="+mn-lt"/>
                <a:cs typeface="Arial"/>
              </a:rPr>
              <a:t>[1] Khalid, N., Qayyum, A., Bilal, M., Al-Fuqaha, A., &amp; Qadir, J. (2023). Privacy-preserving artificial intelligence in healthcare: Techniques and applications. </a:t>
            </a:r>
            <a:r>
              <a:rPr lang="en-US" sz="1400" i="1">
                <a:solidFill>
                  <a:srgbClr val="222222"/>
                </a:solidFill>
                <a:highlight>
                  <a:srgbClr val="FFFFFF"/>
                </a:highlight>
                <a:latin typeface="Arial"/>
                <a:ea typeface="+mn-lt"/>
                <a:cs typeface="Arial"/>
              </a:rPr>
              <a:t>Computers in Biology and Medicine, 158</a:t>
            </a:r>
            <a:r>
              <a:rPr lang="en-US" sz="1400">
                <a:solidFill>
                  <a:srgbClr val="222222"/>
                </a:solidFill>
                <a:highlight>
                  <a:srgbClr val="FFFFFF"/>
                </a:highlight>
                <a:latin typeface="Arial"/>
                <a:ea typeface="+mn-lt"/>
                <a:cs typeface="Arial"/>
              </a:rPr>
              <a:t>, 106848. </a:t>
            </a:r>
            <a:r>
              <a:rPr lang="en-US" sz="1400" dirty="0">
                <a:solidFill>
                  <a:srgbClr val="222222"/>
                </a:solidFill>
                <a:highlight>
                  <a:srgbClr val="FFFFFF"/>
                </a:highlight>
                <a:latin typeface="Arial"/>
                <a:ea typeface="+mn-lt"/>
                <a:cs typeface="Arial"/>
                <a:hlinkClick r:id="rId2"/>
              </a:rPr>
              <a:t>https://doi.org/10.1016/j.compbiomed.2023.106848</a:t>
            </a:r>
            <a:endParaRPr lang="en-US">
              <a:latin typeface="Arial"/>
              <a:cs typeface="Arial"/>
            </a:endParaRPr>
          </a:p>
          <a:p>
            <a:pPr marL="0" indent="0" algn="just">
              <a:buNone/>
            </a:pPr>
            <a:endParaRPr lang="en-US" sz="1400">
              <a:latin typeface="Arial"/>
              <a:cs typeface="Arial"/>
            </a:endParaRPr>
          </a:p>
        </p:txBody>
      </p:sp>
    </p:spTree>
    <p:extLst>
      <p:ext uri="{BB962C8B-B14F-4D97-AF65-F5344CB8AC3E}">
        <p14:creationId xmlns:p14="http://schemas.microsoft.com/office/powerpoint/2010/main" val="3407342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7999"/>
          </a:xfrm>
        </p:spPr>
        <p:txBody>
          <a:bodyPr>
            <a:noAutofit/>
          </a:bodyPr>
          <a:lstStyle/>
          <a:p>
            <a:pPr algn="ctr"/>
            <a:r>
              <a:rPr lang="en-US" sz="9600">
                <a:solidFill>
                  <a:schemeClr val="accent1">
                    <a:lumMod val="75000"/>
                  </a:schemeClr>
                </a:solidFill>
                <a:latin typeface="Kunstler Script"/>
              </a:rPr>
              <a:t>Thank</a:t>
            </a:r>
            <a:r>
              <a:rPr lang="en-US" sz="9600" dirty="0">
                <a:latin typeface="Kunstler Script"/>
              </a:rPr>
              <a:t> </a:t>
            </a:r>
            <a:r>
              <a:rPr lang="en-US" sz="9600">
                <a:solidFill>
                  <a:schemeClr val="accent1"/>
                </a:solidFill>
                <a:latin typeface="Kunstler Script"/>
              </a:rPr>
              <a:t>You!</a:t>
            </a:r>
            <a:br>
              <a:rPr lang="en-US" sz="9600" dirty="0">
                <a:latin typeface="Kunstler Script"/>
              </a:rPr>
            </a:br>
            <a:r>
              <a:rPr lang="en-US" sz="9600">
                <a:solidFill>
                  <a:schemeClr val="accent1"/>
                </a:solidFill>
                <a:latin typeface="Kunstler Script"/>
              </a:rPr>
              <a:t>Any Question?</a:t>
            </a:r>
            <a:br>
              <a:rPr lang="en-US" sz="9600" dirty="0">
                <a:latin typeface="Kunstler Script"/>
              </a:rPr>
            </a:br>
            <a:endParaRPr lang="en-US" sz="9600">
              <a:solidFill>
                <a:schemeClr val="accent1"/>
              </a:solidFill>
              <a:latin typeface="Kunstler Script" panose="030304020206070D0D06" pitchFamily="66" charset="0"/>
            </a:endParaRPr>
          </a:p>
        </p:txBody>
      </p:sp>
      <p:pic>
        <p:nvPicPr>
          <p:cNvPr id="3" name="Graphic 5" descr="Questions">
            <a:extLst>
              <a:ext uri="{FF2B5EF4-FFF2-40B4-BE49-F238E27FC236}">
                <a16:creationId xmlns:a16="http://schemas.microsoft.com/office/drawing/2014/main" id="{0B6B6EE4-43FB-B468-F496-F63D8E9F960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53510" y="3877800"/>
            <a:ext cx="2739680" cy="273968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121859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Privacy-Preserving AI in Healthcare: A Literature Review</vt:lpstr>
      <vt:lpstr>Contents</vt:lpstr>
      <vt:lpstr>Introduction</vt:lpstr>
      <vt:lpstr>Problem Statement</vt:lpstr>
      <vt:lpstr>Why Privacy Matters in Healthcare AI</vt:lpstr>
      <vt:lpstr>AI Applications in Healthcare</vt:lpstr>
      <vt:lpstr>Privacy Attacks on Healthcare AI</vt:lpstr>
      <vt:lpstr>Example of a Privacy Attack</vt:lpstr>
      <vt:lpstr>Taxonomy of Privacy-Preserving Techniques</vt:lpstr>
      <vt:lpstr>Cryptographic Techniques</vt:lpstr>
      <vt:lpstr>Differential Privacy</vt:lpstr>
      <vt:lpstr>Federated Learning, Blockchain, and Hybrid Methods</vt:lpstr>
      <vt:lpstr>Open Challenges</vt:lpstr>
      <vt:lpstr>Critical Analysis</vt:lpstr>
      <vt:lpstr>Conclusion</vt:lpstr>
      <vt:lpstr>Reference</vt:lpstr>
      <vt:lpstr>Thank You! Any Question?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1082</cp:revision>
  <dcterms:created xsi:type="dcterms:W3CDTF">2025-12-16T19:25:45Z</dcterms:created>
  <dcterms:modified xsi:type="dcterms:W3CDTF">2026-05-04T15:10:07Z</dcterms:modified>
</cp:coreProperties>
</file>